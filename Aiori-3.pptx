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5765800" cy="3244850"/>
  <p:notesSz cx="5765800" cy="3244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388" autoAdjust="0"/>
  </p:normalViewPr>
  <p:slideViewPr>
    <p:cSldViewPr>
      <p:cViewPr varScale="1">
        <p:scale>
          <a:sx n="174" d="100"/>
          <a:sy n="174" d="100"/>
        </p:scale>
        <p:origin x="677" y="101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265488" y="0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5DB6B7-29E5-4EEE-9C14-37F8EC557929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911350" y="406400"/>
            <a:ext cx="1943100" cy="10937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76263" y="1562100"/>
            <a:ext cx="4613275" cy="12779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3082925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265488" y="3082925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41B614-6EB9-4DE1-B2A5-69F8EA8E06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00881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41B614-6EB9-4DE1-B2A5-69F8EA8E06F7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87451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2435" y="1005903"/>
            <a:ext cx="4900930" cy="6814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0000DC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000DC"/>
                </a:solidFill>
                <a:latin typeface="Century Gothic"/>
                <a:cs typeface="Century Gothic"/>
              </a:defRPr>
            </a:lvl1pPr>
          </a:lstStyle>
          <a:p>
            <a:pPr marL="1778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dirty="0"/>
              <a:t>‹#›</a:t>
            </a:fld>
            <a:r>
              <a:rPr spc="5" dirty="0"/>
              <a:t> </a:t>
            </a:r>
            <a:r>
              <a:rPr dirty="0"/>
              <a:t>/</a:t>
            </a:r>
            <a:r>
              <a:rPr spc="10" dirty="0"/>
              <a:t> </a:t>
            </a:r>
            <a:r>
              <a:rPr spc="-25" dirty="0"/>
              <a:t>11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00DC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000DC"/>
                </a:solidFill>
                <a:latin typeface="Century Gothic"/>
                <a:cs typeface="Century Gothic"/>
              </a:defRPr>
            </a:lvl1pPr>
          </a:lstStyle>
          <a:p>
            <a:pPr marL="1778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dirty="0"/>
              <a:t>‹#›</a:t>
            </a:fld>
            <a:r>
              <a:rPr spc="5" dirty="0"/>
              <a:t> </a:t>
            </a:r>
            <a:r>
              <a:rPr dirty="0"/>
              <a:t>/</a:t>
            </a:r>
            <a:r>
              <a:rPr spc="10" dirty="0"/>
              <a:t> </a:t>
            </a:r>
            <a:r>
              <a:rPr spc="-25" dirty="0"/>
              <a:t>11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00DC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000DC"/>
                </a:solidFill>
                <a:latin typeface="Century Gothic"/>
                <a:cs typeface="Century Gothic"/>
              </a:defRPr>
            </a:lvl1pPr>
          </a:lstStyle>
          <a:p>
            <a:pPr marL="1778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dirty="0"/>
              <a:t>‹#›</a:t>
            </a:fld>
            <a:r>
              <a:rPr spc="5" dirty="0"/>
              <a:t> </a:t>
            </a:r>
            <a:r>
              <a:rPr dirty="0"/>
              <a:t>/</a:t>
            </a:r>
            <a:r>
              <a:rPr spc="10" dirty="0"/>
              <a:t> </a:t>
            </a:r>
            <a:r>
              <a:rPr spc="-25" dirty="0"/>
              <a:t>11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00DC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000DC"/>
                </a:solidFill>
                <a:latin typeface="Century Gothic"/>
                <a:cs typeface="Century Gothic"/>
              </a:defRPr>
            </a:lvl1pPr>
          </a:lstStyle>
          <a:p>
            <a:pPr marL="1778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dirty="0"/>
              <a:t>‹#›</a:t>
            </a:fld>
            <a:r>
              <a:rPr spc="5" dirty="0"/>
              <a:t> </a:t>
            </a:r>
            <a:r>
              <a:rPr dirty="0"/>
              <a:t>/</a:t>
            </a:r>
            <a:r>
              <a:rPr spc="10" dirty="0"/>
              <a:t> </a:t>
            </a:r>
            <a:r>
              <a:rPr spc="-25" dirty="0"/>
              <a:t>11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000DC"/>
                </a:solidFill>
                <a:latin typeface="Century Gothic"/>
                <a:cs typeface="Century Gothic"/>
              </a:defRPr>
            </a:lvl1pPr>
          </a:lstStyle>
          <a:p>
            <a:pPr marL="1778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dirty="0"/>
              <a:t>‹#›</a:t>
            </a:fld>
            <a:r>
              <a:rPr spc="5" dirty="0"/>
              <a:t> </a:t>
            </a:r>
            <a:r>
              <a:rPr dirty="0"/>
              <a:t>/</a:t>
            </a:r>
            <a:r>
              <a:rPr spc="10" dirty="0"/>
              <a:t> </a:t>
            </a:r>
            <a:r>
              <a:rPr spc="-25" dirty="0"/>
              <a:t>11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9293" y="198244"/>
            <a:ext cx="111506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0000DC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39293" y="596822"/>
            <a:ext cx="5273675" cy="765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234978" y="3092784"/>
            <a:ext cx="400050" cy="1206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0000DC"/>
                </a:solidFill>
                <a:latin typeface="Century Gothic"/>
                <a:cs typeface="Century Gothic"/>
              </a:defRPr>
            </a:lvl1pPr>
          </a:lstStyle>
          <a:p>
            <a:pPr marL="1778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dirty="0"/>
              <a:t>‹#›</a:t>
            </a:fld>
            <a:r>
              <a:rPr spc="5" dirty="0"/>
              <a:t> </a:t>
            </a:r>
            <a:r>
              <a:rPr dirty="0"/>
              <a:t>/</a:t>
            </a:r>
            <a:r>
              <a:rPr spc="10" dirty="0"/>
              <a:t> </a:t>
            </a:r>
            <a:r>
              <a:rPr spc="-25" dirty="0"/>
              <a:t>11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vr790313@gmail.com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slide" Target="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csrc.nist.gov/pubs/sp/800/207/final" TargetMode="External"/><Relationship Id="rId2" Type="http://schemas.openxmlformats.org/officeDocument/2006/relationships/slide" Target="slide10.xml"/><Relationship Id="rId1" Type="http://schemas.openxmlformats.org/officeDocument/2006/relationships/slideLayout" Target="../slideLayouts/slideLayout2.xml"/><Relationship Id="rId6" Type="http://schemas.openxmlformats.org/officeDocument/2006/relationships/hyperlink" Target="rfc-editor.org/rfc/rfc5880.html" TargetMode="External"/><Relationship Id="rId5" Type="http://schemas.openxmlformats.org/officeDocument/2006/relationships/hyperlink" Target="envoyproxy.io/docs/envoy/latest/intro/arch_overview/upstream/health_checking" TargetMode="External"/><Relationship Id="rId4" Type="http://schemas.openxmlformats.org/officeDocument/2006/relationships/hyperlink" Target="openpolicyagent.org/docs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993" y="252004"/>
            <a:ext cx="508223" cy="503988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39293" y="1200733"/>
            <a:ext cx="4429125" cy="652102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sz="2050" spc="-45" dirty="0"/>
              <a:t>A3-</a:t>
            </a:r>
            <a:r>
              <a:rPr sz="2050" spc="-80" dirty="0"/>
              <a:t>PS00</a:t>
            </a:r>
            <a:r>
              <a:rPr lang="en-US" sz="2050" spc="-80" dirty="0"/>
              <a:t>6</a:t>
            </a:r>
            <a:r>
              <a:rPr sz="2050" spc="-80" dirty="0"/>
              <a:t>-</a:t>
            </a:r>
            <a:r>
              <a:rPr sz="2050" spc="-10" dirty="0"/>
              <a:t>TC</a:t>
            </a:r>
            <a:r>
              <a:rPr lang="en-US" sz="2050" spc="-10" dirty="0"/>
              <a:t>385</a:t>
            </a: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lang="en-US" sz="1200" spc="-100" dirty="0">
                <a:solidFill>
                  <a:srgbClr val="000000"/>
                </a:solidFill>
                <a:latin typeface="Century Gothic"/>
                <a:cs typeface="Century Gothic"/>
              </a:rPr>
              <a:t> Policy-Constrained Service Failover Demonstrator</a:t>
            </a:r>
            <a:endParaRPr lang="en-US" sz="1200" dirty="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9293" y="2132387"/>
            <a:ext cx="1582420" cy="884215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lang="en-US" sz="1000" b="1" spc="-100" dirty="0">
                <a:latin typeface="Century Gothic"/>
                <a:cs typeface="Century Gothic"/>
              </a:rPr>
              <a:t>Vishal Raj</a:t>
            </a: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lang="en-US" sz="1000" spc="-100" dirty="0">
                <a:latin typeface="Century Gothic"/>
                <a:cs typeface="Century Gothic"/>
                <a:hlinkClick r:id="rId3"/>
              </a:rPr>
              <a:t>vr790313@gmail.com</a:t>
            </a:r>
            <a:endParaRPr sz="1000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sz="800" dirty="0">
                <a:latin typeface="Century Gothic"/>
                <a:cs typeface="Century Gothic"/>
              </a:rPr>
              <a:t>AIORI</a:t>
            </a:r>
            <a:r>
              <a:rPr sz="800" spc="50" dirty="0">
                <a:latin typeface="Century Gothic"/>
                <a:cs typeface="Century Gothic"/>
              </a:rPr>
              <a:t> </a:t>
            </a:r>
            <a:r>
              <a:rPr sz="800" spc="-10" dirty="0">
                <a:latin typeface="Century Gothic"/>
                <a:cs typeface="Century Gothic"/>
              </a:rPr>
              <a:t>Hackathon</a:t>
            </a:r>
            <a:r>
              <a:rPr sz="800" spc="55" dirty="0">
                <a:latin typeface="Century Gothic"/>
                <a:cs typeface="Century Gothic"/>
              </a:rPr>
              <a:t> </a:t>
            </a:r>
            <a:r>
              <a:rPr sz="800" spc="-50" dirty="0">
                <a:latin typeface="Century Gothic"/>
                <a:cs typeface="Century Gothic"/>
              </a:rPr>
              <a:t>3</a:t>
            </a:r>
            <a:endParaRPr sz="800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sz="900" spc="-35" dirty="0">
                <a:latin typeface="Century Gothic"/>
                <a:cs typeface="Century Gothic"/>
              </a:rPr>
              <a:t>October</a:t>
            </a:r>
            <a:r>
              <a:rPr sz="900" spc="-10" dirty="0">
                <a:latin typeface="Century Gothic"/>
                <a:cs typeface="Century Gothic"/>
              </a:rPr>
              <a:t> </a:t>
            </a:r>
            <a:r>
              <a:rPr lang="en-US" sz="900" spc="-10" dirty="0">
                <a:latin typeface="Century Gothic"/>
                <a:cs typeface="Century Gothic"/>
              </a:rPr>
              <a:t>14</a:t>
            </a:r>
            <a:r>
              <a:rPr sz="900" dirty="0">
                <a:latin typeface="Century Gothic"/>
                <a:cs typeface="Century Gothic"/>
              </a:rPr>
              <a:t>,</a:t>
            </a:r>
            <a:r>
              <a:rPr sz="900" spc="-5" dirty="0">
                <a:latin typeface="Century Gothic"/>
                <a:cs typeface="Century Gothic"/>
              </a:rPr>
              <a:t> </a:t>
            </a:r>
            <a:r>
              <a:rPr sz="900" spc="-20" dirty="0">
                <a:latin typeface="Century Gothic"/>
                <a:cs typeface="Century Gothic"/>
              </a:rPr>
              <a:t>2026</a:t>
            </a:r>
            <a:endParaRPr sz="900" dirty="0">
              <a:latin typeface="Century Gothic"/>
              <a:cs typeface="Century Gothic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08224" y="16997"/>
            <a:ext cx="3048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dirty="0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AIORI</a:t>
            </a:r>
            <a:r>
              <a:rPr sz="600" b="1" spc="40" dirty="0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 </a:t>
            </a:r>
            <a:r>
              <a:rPr sz="600" b="1" spc="-50" dirty="0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3</a:t>
            </a:r>
            <a:endParaRPr sz="6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47016" y="16997"/>
            <a:ext cx="33337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10" dirty="0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Abstract</a:t>
            </a:r>
            <a:endParaRPr sz="6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7388" y="126216"/>
            <a:ext cx="161036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-80" dirty="0">
                <a:solidFill>
                  <a:srgbClr val="0000DC"/>
                </a:solidFill>
                <a:latin typeface="Century Gothic"/>
                <a:cs typeface="Century Gothic"/>
              </a:rPr>
              <a:t>Problem</a:t>
            </a:r>
            <a:r>
              <a:rPr sz="1400" b="1" spc="30" dirty="0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sz="1400" b="1" spc="-55" dirty="0">
                <a:solidFill>
                  <a:srgbClr val="0000DC"/>
                </a:solidFill>
                <a:latin typeface="Century Gothic"/>
                <a:cs typeface="Century Gothic"/>
              </a:rPr>
              <a:t>Description</a:t>
            </a:r>
            <a:endParaRPr sz="1400" dirty="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0772" y="392916"/>
            <a:ext cx="3657600" cy="182742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r>
              <a:rPr lang="en-IN" sz="1000" b="1" u="sng" dirty="0"/>
              <a:t>The Problem: Availability Without Policy Creates Risk</a:t>
            </a:r>
          </a:p>
          <a:p>
            <a:endParaRPr lang="en-IN" sz="800" b="1" dirty="0"/>
          </a:p>
          <a:p>
            <a:r>
              <a:rPr lang="en-IN" sz="1000" b="1" dirty="0"/>
              <a:t>01 — Service Failure</a:t>
            </a:r>
            <a:br>
              <a:rPr lang="en-IN" sz="1000" dirty="0"/>
            </a:br>
            <a:r>
              <a:rPr lang="en-IN" sz="1000" dirty="0"/>
              <a:t>The active service or network path becomes unavailable.</a:t>
            </a:r>
          </a:p>
          <a:p>
            <a:r>
              <a:rPr lang="en-IN" sz="1000" b="1" dirty="0"/>
              <a:t>02 — Multiple Alternatives</a:t>
            </a:r>
            <a:br>
              <a:rPr lang="en-IN" sz="1000" dirty="0"/>
            </a:br>
            <a:r>
              <a:rPr lang="en-IN" sz="1000" dirty="0"/>
              <a:t>Backup services may be available, but not all are suitable.</a:t>
            </a:r>
          </a:p>
          <a:p>
            <a:r>
              <a:rPr lang="en-IN" sz="1000" b="1" dirty="0"/>
              <a:t>03 — Policy Violations</a:t>
            </a:r>
            <a:br>
              <a:rPr lang="en-IN" sz="1000" dirty="0"/>
            </a:br>
            <a:r>
              <a:rPr lang="en-IN" sz="1000" dirty="0"/>
              <a:t>A healthy alternative may violate security, trust, or operational constraints.</a:t>
            </a:r>
          </a:p>
          <a:p>
            <a:r>
              <a:rPr lang="en-IN" sz="1000" b="1" dirty="0"/>
              <a:t>04 — Unsafe Failover</a:t>
            </a:r>
            <a:br>
              <a:rPr lang="en-IN" sz="1000" dirty="0"/>
            </a:br>
            <a:r>
              <a:rPr lang="en-IN" sz="1000" dirty="0"/>
              <a:t>Routing traffic based only on health can send it to an unauthorized destination.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30772" y="3037827"/>
            <a:ext cx="2142528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15"/>
              </a:lnSpc>
            </a:pPr>
            <a:r>
              <a:rPr lang="en-US" sz="600" i="1" spc="-60" baseline="-7936" dirty="0">
                <a:solidFill>
                  <a:srgbClr val="0000DC"/>
                </a:solidFill>
                <a:latin typeface="Century Gothic"/>
                <a:cs typeface="Arial Narrow"/>
              </a:rPr>
              <a:t>Vishal Raj</a:t>
            </a:r>
            <a:r>
              <a:rPr sz="2100" i="1" baseline="-7936" dirty="0">
                <a:solidFill>
                  <a:srgbClr val="0000DC"/>
                </a:solidFill>
                <a:latin typeface="Arial Narrow"/>
                <a:cs typeface="Arial Narrow"/>
              </a:rPr>
              <a:t>·</a:t>
            </a:r>
            <a:r>
              <a:rPr sz="2100" i="1" spc="-202" baseline="-7936" dirty="0">
                <a:solidFill>
                  <a:srgbClr val="0000DC"/>
                </a:solidFill>
                <a:latin typeface="Arial Narrow"/>
                <a:cs typeface="Arial Narrow"/>
              </a:rPr>
              <a:t> </a:t>
            </a:r>
            <a:r>
              <a:rPr lang="en-IN" sz="800" i="1" spc="-45" baseline="-7936" dirty="0">
                <a:solidFill>
                  <a:srgbClr val="0000DC"/>
                </a:solidFill>
                <a:latin typeface="Arial Narrow"/>
                <a:cs typeface="Arial Narrow"/>
              </a:rPr>
              <a:t>A3</a:t>
            </a:r>
            <a:r>
              <a:rPr lang="en-IN" sz="600" b="1" i="1" spc="10" baseline="-7936" dirty="0">
                <a:solidFill>
                  <a:srgbClr val="0000DC"/>
                </a:solidFill>
                <a:latin typeface="Century Gothic"/>
                <a:cs typeface="Arial Narrow"/>
              </a:rPr>
              <a:t>-PS006-TC385</a:t>
            </a:r>
            <a:r>
              <a:rPr sz="2100" i="1" baseline="-7936" dirty="0">
                <a:solidFill>
                  <a:srgbClr val="0000DC"/>
                </a:solidFill>
                <a:latin typeface="Arial Narrow"/>
                <a:cs typeface="Arial Narrow"/>
              </a:rPr>
              <a:t>·</a:t>
            </a:r>
            <a:r>
              <a:rPr sz="2100" i="1" spc="-202" baseline="-7936" dirty="0">
                <a:solidFill>
                  <a:srgbClr val="0000DC"/>
                </a:solidFill>
                <a:latin typeface="Arial Narrow"/>
                <a:cs typeface="Arial Narrow"/>
              </a:rPr>
              <a:t> </a:t>
            </a:r>
            <a:r>
              <a:rPr sz="600" spc="-20" dirty="0">
                <a:solidFill>
                  <a:srgbClr val="0000DC"/>
                </a:solidFill>
                <a:latin typeface="Century Gothic"/>
                <a:cs typeface="Century Gothic"/>
              </a:rPr>
              <a:t>October</a:t>
            </a:r>
            <a:r>
              <a:rPr sz="600" spc="10" dirty="0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lang="en-US" sz="600" spc="10" dirty="0">
                <a:solidFill>
                  <a:srgbClr val="0000DC"/>
                </a:solidFill>
                <a:latin typeface="Century Gothic"/>
                <a:cs typeface="Century Gothic"/>
              </a:rPr>
              <a:t>14</a:t>
            </a:r>
            <a:r>
              <a:rPr sz="600" dirty="0">
                <a:solidFill>
                  <a:srgbClr val="0000DC"/>
                </a:solidFill>
                <a:latin typeface="Century Gothic"/>
                <a:cs typeface="Century Gothic"/>
              </a:rPr>
              <a:t>,</a:t>
            </a:r>
            <a:r>
              <a:rPr sz="600" spc="10" dirty="0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sz="600" spc="-20" dirty="0">
                <a:solidFill>
                  <a:srgbClr val="0000DC"/>
                </a:solidFill>
                <a:latin typeface="Century Gothic"/>
                <a:cs typeface="Century Gothic"/>
              </a:rPr>
              <a:t>2026</a:t>
            </a:r>
            <a:endParaRPr sz="600" dirty="0">
              <a:latin typeface="Century Gothic"/>
              <a:cs typeface="Century Gothic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dirty="0"/>
              <a:t>2</a:t>
            </a:fld>
            <a:r>
              <a:rPr spc="5" dirty="0"/>
              <a:t> </a:t>
            </a:r>
            <a:r>
              <a:rPr dirty="0"/>
              <a:t>/</a:t>
            </a:r>
            <a:r>
              <a:rPr spc="10" dirty="0"/>
              <a:t> </a:t>
            </a:r>
            <a:r>
              <a:rPr spc="-25" dirty="0"/>
              <a:t>11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C1716A7-C644-1599-2A36-0FFCF7AC949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4900" y="631825"/>
            <a:ext cx="2057400" cy="17526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6670194-2384-A142-5984-2EEAE5F7609C}"/>
              </a:ext>
            </a:extLst>
          </p:cNvPr>
          <p:cNvSpPr txBox="1"/>
          <p:nvPr/>
        </p:nvSpPr>
        <p:spPr>
          <a:xfrm>
            <a:off x="1337926" y="2398250"/>
            <a:ext cx="3218179" cy="461665"/>
          </a:xfrm>
          <a:prstGeom prst="rect">
            <a:avLst/>
          </a:prstGeom>
          <a:noFill/>
          <a:ln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800" b="1" u="sng" dirty="0"/>
              <a:t>THE CORE CHALLENGE</a:t>
            </a:r>
            <a:endParaRPr lang="en-IN" sz="800" u="sng" dirty="0"/>
          </a:p>
          <a:p>
            <a:pPr algn="ctr"/>
            <a:r>
              <a:rPr lang="en-IN" sz="800" dirty="0"/>
              <a:t>How can we restore service availability while ensuring that every failover decision follows explicit security and operational policies?</a:t>
            </a: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08224" y="16997"/>
            <a:ext cx="3048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dirty="0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AIORI</a:t>
            </a:r>
            <a:r>
              <a:rPr sz="600" b="1" spc="40" dirty="0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 </a:t>
            </a:r>
            <a:r>
              <a:rPr sz="600" b="1" spc="-50" dirty="0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3</a:t>
            </a:r>
            <a:endParaRPr sz="6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47016" y="16997"/>
            <a:ext cx="467359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10" dirty="0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Background</a:t>
            </a:r>
            <a:endParaRPr sz="6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5900" y="40308"/>
            <a:ext cx="94488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-110" dirty="0">
                <a:solidFill>
                  <a:srgbClr val="0000DC"/>
                </a:solidFill>
                <a:latin typeface="Century Gothic"/>
                <a:cs typeface="Century Gothic"/>
              </a:rPr>
              <a:t>Background</a:t>
            </a:r>
            <a:endParaRPr sz="1400" dirty="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383" y="346933"/>
            <a:ext cx="5281295" cy="233846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r>
              <a:rPr lang="en-IN" sz="800" b="1" u="sng" dirty="0"/>
              <a:t>Policy-Constrained Service Failover</a:t>
            </a:r>
          </a:p>
          <a:p>
            <a:r>
              <a:rPr lang="en-IN" sz="800" b="1" dirty="0"/>
              <a:t>A failover system that checks both service health and policy compliance before redirecting traffic.</a:t>
            </a:r>
          </a:p>
          <a:p>
            <a:endParaRPr lang="en-IN" sz="800" dirty="0"/>
          </a:p>
          <a:p>
            <a:r>
              <a:rPr lang="en-IN" sz="750" b="1" dirty="0"/>
              <a:t>1.   Detect</a:t>
            </a:r>
            <a:r>
              <a:rPr lang="en-IN" sz="750" dirty="0"/>
              <a:t> </a:t>
            </a:r>
          </a:p>
          <a:p>
            <a:r>
              <a:rPr lang="en-IN" sz="750" dirty="0"/>
              <a:t>      Identify service or network failure.</a:t>
            </a:r>
          </a:p>
          <a:p>
            <a:endParaRPr lang="en-IN" sz="750" b="1" dirty="0"/>
          </a:p>
          <a:p>
            <a:r>
              <a:rPr lang="en-IN" sz="750" b="1" dirty="0"/>
              <a:t>2.   Discover </a:t>
            </a:r>
          </a:p>
          <a:p>
            <a:r>
              <a:rPr lang="en-IN" sz="750" b="1" dirty="0"/>
              <a:t>      </a:t>
            </a:r>
            <a:r>
              <a:rPr lang="en-IN" sz="750" dirty="0"/>
              <a:t>Find alternative services or paths.</a:t>
            </a:r>
          </a:p>
          <a:p>
            <a:endParaRPr lang="en-IN" sz="750" b="1" dirty="0"/>
          </a:p>
          <a:p>
            <a:r>
              <a:rPr lang="en-IN" sz="750" b="1" dirty="0"/>
              <a:t>3.   Validate</a:t>
            </a:r>
            <a:r>
              <a:rPr lang="en-IN" sz="750" dirty="0"/>
              <a:t> </a:t>
            </a:r>
          </a:p>
          <a:p>
            <a:r>
              <a:rPr lang="en-IN" sz="750" dirty="0"/>
              <a:t>      Check health and readiness.</a:t>
            </a:r>
          </a:p>
          <a:p>
            <a:endParaRPr lang="en-IN" sz="750" b="1" dirty="0"/>
          </a:p>
          <a:p>
            <a:r>
              <a:rPr lang="en-IN" sz="750" b="1" dirty="0"/>
              <a:t>4.   Evaluate</a:t>
            </a:r>
          </a:p>
          <a:p>
            <a:r>
              <a:rPr lang="en-IN" sz="750" b="1" dirty="0"/>
              <a:t>      </a:t>
            </a:r>
            <a:r>
              <a:rPr lang="en-IN" sz="750" dirty="0"/>
              <a:t>Verify security and operational policies.</a:t>
            </a:r>
          </a:p>
          <a:p>
            <a:endParaRPr lang="en-IN" sz="750" b="1" dirty="0"/>
          </a:p>
          <a:p>
            <a:r>
              <a:rPr lang="en-IN" sz="750" b="1" dirty="0"/>
              <a:t>6.   Execute</a:t>
            </a:r>
            <a:r>
              <a:rPr lang="en-IN" sz="750" dirty="0"/>
              <a:t> </a:t>
            </a:r>
          </a:p>
          <a:p>
            <a:r>
              <a:rPr lang="en-IN" sz="750" dirty="0"/>
              <a:t>      Redirect traffic only to an eligible candidate.</a:t>
            </a:r>
          </a:p>
          <a:p>
            <a:endParaRPr lang="en-IN" sz="750" b="1" dirty="0"/>
          </a:p>
          <a:p>
            <a:r>
              <a:rPr lang="en-IN" sz="750" b="1" dirty="0"/>
              <a:t>7.   Audit</a:t>
            </a:r>
            <a:r>
              <a:rPr lang="en-IN" sz="750" dirty="0"/>
              <a:t> </a:t>
            </a:r>
          </a:p>
          <a:p>
            <a:r>
              <a:rPr lang="en-IN" sz="750" dirty="0"/>
              <a:t>      Record decisions and failover outcomes.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6383" y="3092784"/>
            <a:ext cx="1845917" cy="3088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15"/>
              </a:lnSpc>
            </a:pPr>
            <a:r>
              <a:rPr lang="en-US" sz="600" i="1" spc="-60" baseline="-7936" dirty="0">
                <a:solidFill>
                  <a:srgbClr val="0000DC"/>
                </a:solidFill>
                <a:latin typeface="Century Gothic"/>
                <a:cs typeface="Arial Narrow"/>
              </a:rPr>
              <a:t>Vishal Raj</a:t>
            </a:r>
            <a:r>
              <a:rPr lang="en-US" sz="2100" i="1" baseline="-7936" dirty="0">
                <a:solidFill>
                  <a:srgbClr val="0000DC"/>
                </a:solidFill>
                <a:latin typeface="Arial Narrow"/>
                <a:cs typeface="Arial Narrow"/>
              </a:rPr>
              <a:t>·</a:t>
            </a:r>
            <a:r>
              <a:rPr lang="en-US" sz="2100" i="1" spc="-202" baseline="-7936" dirty="0">
                <a:solidFill>
                  <a:srgbClr val="0000DC"/>
                </a:solidFill>
                <a:latin typeface="Arial Narrow"/>
                <a:cs typeface="Arial Narrow"/>
              </a:rPr>
              <a:t> </a:t>
            </a:r>
            <a:r>
              <a:rPr lang="en-US" sz="800" i="1" spc="-45" baseline="-7936" dirty="0">
                <a:solidFill>
                  <a:srgbClr val="0000DC"/>
                </a:solidFill>
                <a:latin typeface="Arial Narrow"/>
                <a:cs typeface="Arial Narrow"/>
              </a:rPr>
              <a:t>A3</a:t>
            </a:r>
            <a:r>
              <a:rPr lang="en-US" sz="600" b="1" i="1" spc="10" baseline="-7936" dirty="0">
                <a:solidFill>
                  <a:srgbClr val="0000DC"/>
                </a:solidFill>
                <a:latin typeface="Century Gothic"/>
                <a:cs typeface="Arial Narrow"/>
              </a:rPr>
              <a:t>-PS006-TC385</a:t>
            </a:r>
            <a:r>
              <a:rPr lang="en-US" sz="2100" i="1" baseline="-7936" dirty="0">
                <a:solidFill>
                  <a:srgbClr val="0000DC"/>
                </a:solidFill>
                <a:latin typeface="Arial Narrow"/>
                <a:cs typeface="Arial Narrow"/>
              </a:rPr>
              <a:t>·</a:t>
            </a:r>
            <a:r>
              <a:rPr lang="en-US" sz="2100" i="1" spc="-202" baseline="-7936" dirty="0">
                <a:solidFill>
                  <a:srgbClr val="0000DC"/>
                </a:solidFill>
                <a:latin typeface="Arial Narrow"/>
                <a:cs typeface="Arial Narrow"/>
              </a:rPr>
              <a:t> </a:t>
            </a:r>
            <a:r>
              <a:rPr lang="en-US" sz="600" spc="-20" dirty="0">
                <a:solidFill>
                  <a:srgbClr val="0000DC"/>
                </a:solidFill>
                <a:latin typeface="Century Gothic"/>
                <a:cs typeface="Century Gothic"/>
              </a:rPr>
              <a:t>October</a:t>
            </a:r>
            <a:r>
              <a:rPr lang="en-US" sz="600" spc="10" dirty="0">
                <a:solidFill>
                  <a:srgbClr val="0000DC"/>
                </a:solidFill>
                <a:latin typeface="Century Gothic"/>
                <a:cs typeface="Century Gothic"/>
              </a:rPr>
              <a:t> 14</a:t>
            </a:r>
            <a:r>
              <a:rPr lang="en-US" sz="600" dirty="0">
                <a:solidFill>
                  <a:srgbClr val="0000DC"/>
                </a:solidFill>
                <a:latin typeface="Century Gothic"/>
                <a:cs typeface="Century Gothic"/>
              </a:rPr>
              <a:t>,</a:t>
            </a:r>
            <a:r>
              <a:rPr lang="en-US" sz="600" spc="10" dirty="0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lang="en-US" sz="600" spc="-20" dirty="0">
                <a:solidFill>
                  <a:srgbClr val="0000DC"/>
                </a:solidFill>
                <a:latin typeface="Century Gothic"/>
                <a:cs typeface="Century Gothic"/>
              </a:rPr>
              <a:t>2026</a:t>
            </a:r>
            <a:endParaRPr lang="en-US" sz="600" dirty="0">
              <a:latin typeface="Century Gothic"/>
              <a:cs typeface="Century Gothic"/>
            </a:endParaRPr>
          </a:p>
          <a:p>
            <a:pPr marL="12700">
              <a:lnSpc>
                <a:spcPts val="1315"/>
              </a:lnSpc>
            </a:pPr>
            <a:endParaRPr sz="600" dirty="0">
              <a:latin typeface="Century Gothic"/>
              <a:cs typeface="Century Gothic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dirty="0"/>
              <a:t>3</a:t>
            </a:fld>
            <a:r>
              <a:rPr spc="5" dirty="0"/>
              <a:t> </a:t>
            </a:r>
            <a:r>
              <a:rPr dirty="0"/>
              <a:t>/</a:t>
            </a:r>
            <a:r>
              <a:rPr spc="10" dirty="0"/>
              <a:t> </a:t>
            </a:r>
            <a:r>
              <a:rPr spc="-25" dirty="0"/>
              <a:t>11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2A9F97F-8513-588E-3EF1-3DF72332408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9500" y="784225"/>
            <a:ext cx="3369917" cy="2057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DBBD462-507D-99B8-837A-EDC0E0531D1E}"/>
              </a:ext>
            </a:extLst>
          </p:cNvPr>
          <p:cNvSpPr txBox="1"/>
          <p:nvPr/>
        </p:nvSpPr>
        <p:spPr>
          <a:xfrm>
            <a:off x="2813422" y="2509017"/>
            <a:ext cx="2635658" cy="307777"/>
          </a:xfrm>
          <a:prstGeom prst="rect">
            <a:avLst/>
          </a:prstGeom>
          <a:noFill/>
          <a:ln>
            <a:solidFill>
              <a:schemeClr val="accent3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IN" sz="700" b="1" dirty="0"/>
              <a:t>Core Principle:</a:t>
            </a:r>
            <a:r>
              <a:rPr lang="en-IN" sz="700" dirty="0"/>
              <a:t> Healthy + Authorized = Eligible</a:t>
            </a:r>
          </a:p>
          <a:p>
            <a:pPr algn="ctr"/>
            <a:r>
              <a:rPr lang="en-IN" sz="700" i="1" dirty="0"/>
              <a:t>If no eligible candidate exists, deny failover and raise an alert.</a:t>
            </a:r>
            <a:endParaRPr lang="en-IN" sz="700" dirty="0"/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08224" y="16997"/>
            <a:ext cx="3048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dirty="0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AIORI</a:t>
            </a:r>
            <a:r>
              <a:rPr sz="600" b="1" spc="40" dirty="0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 </a:t>
            </a:r>
            <a:r>
              <a:rPr sz="600" b="1" spc="-50" dirty="0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3</a:t>
            </a:r>
            <a:endParaRPr sz="6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47016" y="16997"/>
            <a:ext cx="9271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10" dirty="0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Literature</a:t>
            </a:r>
            <a:r>
              <a:rPr sz="600" b="1" spc="30" dirty="0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 </a:t>
            </a:r>
            <a:r>
              <a:rPr sz="600" b="1" spc="114" dirty="0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&amp;</a:t>
            </a:r>
            <a:r>
              <a:rPr sz="600" b="1" spc="30" dirty="0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 </a:t>
            </a:r>
            <a:r>
              <a:rPr sz="600" b="1" dirty="0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RFC</a:t>
            </a:r>
            <a:r>
              <a:rPr sz="600" b="1" spc="35" dirty="0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 </a:t>
            </a:r>
            <a:r>
              <a:rPr sz="600" b="1" spc="-10" dirty="0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Review</a:t>
            </a:r>
            <a:endParaRPr sz="6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9293" y="198244"/>
            <a:ext cx="193675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-20" dirty="0">
                <a:solidFill>
                  <a:srgbClr val="0000DC"/>
                </a:solidFill>
                <a:latin typeface="Century Gothic"/>
                <a:cs typeface="Century Gothic"/>
              </a:rPr>
              <a:t>Literature</a:t>
            </a:r>
            <a:r>
              <a:rPr sz="1400" b="1" spc="-30" dirty="0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sz="1400" b="1" spc="204" dirty="0">
                <a:solidFill>
                  <a:srgbClr val="0000DC"/>
                </a:solidFill>
                <a:latin typeface="Century Gothic"/>
                <a:cs typeface="Century Gothic"/>
              </a:rPr>
              <a:t>&amp;</a:t>
            </a:r>
            <a:r>
              <a:rPr sz="1400" b="1" spc="-30" dirty="0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sz="1400" b="1" spc="-70" dirty="0">
                <a:solidFill>
                  <a:srgbClr val="0000DC"/>
                </a:solidFill>
                <a:latin typeface="Century Gothic"/>
                <a:cs typeface="Century Gothic"/>
              </a:rPr>
              <a:t>RFC</a:t>
            </a:r>
            <a:r>
              <a:rPr sz="1400" b="1" spc="-25" dirty="0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sz="1400" b="1" spc="-80" dirty="0">
                <a:solidFill>
                  <a:srgbClr val="0000DC"/>
                </a:solidFill>
                <a:latin typeface="Century Gothic"/>
                <a:cs typeface="Century Gothic"/>
              </a:rPr>
              <a:t>Review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8574" y="1032827"/>
            <a:ext cx="5161915" cy="16902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endParaRPr sz="1100" dirty="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9293" y="3050083"/>
            <a:ext cx="1608455" cy="3088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15"/>
              </a:lnSpc>
            </a:pPr>
            <a:r>
              <a:rPr lang="en-US" sz="600" i="1" spc="-60" baseline="-7936" dirty="0">
                <a:solidFill>
                  <a:srgbClr val="0000DC"/>
                </a:solidFill>
                <a:latin typeface="Century Gothic"/>
                <a:cs typeface="Arial Narrow"/>
              </a:rPr>
              <a:t>Vishal Raj</a:t>
            </a:r>
            <a:r>
              <a:rPr lang="en-US" sz="2100" i="1" baseline="-7936" dirty="0">
                <a:solidFill>
                  <a:srgbClr val="0000DC"/>
                </a:solidFill>
                <a:latin typeface="Arial Narrow"/>
                <a:cs typeface="Arial Narrow"/>
              </a:rPr>
              <a:t>·</a:t>
            </a:r>
            <a:r>
              <a:rPr lang="en-US" sz="2100" i="1" spc="-202" baseline="-7936" dirty="0">
                <a:solidFill>
                  <a:srgbClr val="0000DC"/>
                </a:solidFill>
                <a:latin typeface="Arial Narrow"/>
                <a:cs typeface="Arial Narrow"/>
              </a:rPr>
              <a:t> </a:t>
            </a:r>
            <a:r>
              <a:rPr lang="en-US" sz="800" i="1" spc="-45" baseline="-7936" dirty="0">
                <a:solidFill>
                  <a:srgbClr val="0000DC"/>
                </a:solidFill>
                <a:latin typeface="Arial Narrow"/>
                <a:cs typeface="Arial Narrow"/>
              </a:rPr>
              <a:t>A3</a:t>
            </a:r>
            <a:r>
              <a:rPr lang="en-US" sz="600" b="1" i="1" spc="10" baseline="-7936" dirty="0">
                <a:solidFill>
                  <a:srgbClr val="0000DC"/>
                </a:solidFill>
                <a:latin typeface="Century Gothic"/>
                <a:cs typeface="Arial Narrow"/>
              </a:rPr>
              <a:t>-PS006-TC385</a:t>
            </a:r>
            <a:r>
              <a:rPr lang="en-US" sz="2100" i="1" baseline="-7936" dirty="0">
                <a:solidFill>
                  <a:srgbClr val="0000DC"/>
                </a:solidFill>
                <a:latin typeface="Arial Narrow"/>
                <a:cs typeface="Arial Narrow"/>
              </a:rPr>
              <a:t>·</a:t>
            </a:r>
            <a:r>
              <a:rPr lang="en-US" sz="2100" i="1" spc="-202" baseline="-7936" dirty="0">
                <a:solidFill>
                  <a:srgbClr val="0000DC"/>
                </a:solidFill>
                <a:latin typeface="Arial Narrow"/>
                <a:cs typeface="Arial Narrow"/>
              </a:rPr>
              <a:t> </a:t>
            </a:r>
            <a:r>
              <a:rPr lang="en-US" sz="600" spc="-20" dirty="0">
                <a:solidFill>
                  <a:srgbClr val="0000DC"/>
                </a:solidFill>
                <a:latin typeface="Century Gothic"/>
                <a:cs typeface="Century Gothic"/>
              </a:rPr>
              <a:t>October</a:t>
            </a:r>
            <a:r>
              <a:rPr lang="en-US" sz="600" spc="10" dirty="0">
                <a:solidFill>
                  <a:srgbClr val="0000DC"/>
                </a:solidFill>
                <a:latin typeface="Century Gothic"/>
                <a:cs typeface="Century Gothic"/>
              </a:rPr>
              <a:t> 14</a:t>
            </a:r>
            <a:r>
              <a:rPr lang="en-US" sz="600" dirty="0">
                <a:solidFill>
                  <a:srgbClr val="0000DC"/>
                </a:solidFill>
                <a:latin typeface="Century Gothic"/>
                <a:cs typeface="Century Gothic"/>
              </a:rPr>
              <a:t>,</a:t>
            </a:r>
            <a:r>
              <a:rPr lang="en-US" sz="600" spc="10" dirty="0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lang="en-US" sz="600" spc="-20" dirty="0">
                <a:solidFill>
                  <a:srgbClr val="0000DC"/>
                </a:solidFill>
                <a:latin typeface="Century Gothic"/>
                <a:cs typeface="Century Gothic"/>
              </a:rPr>
              <a:t>2026</a:t>
            </a:r>
            <a:endParaRPr lang="en-US" sz="600" dirty="0">
              <a:latin typeface="Century Gothic"/>
              <a:cs typeface="Century Gothic"/>
            </a:endParaRPr>
          </a:p>
          <a:p>
            <a:pPr marL="12700">
              <a:lnSpc>
                <a:spcPts val="1315"/>
              </a:lnSpc>
            </a:pPr>
            <a:endParaRPr lang="en-US" sz="600" dirty="0">
              <a:latin typeface="Century Gothic"/>
              <a:cs typeface="Century Gothic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dirty="0"/>
              <a:t>4</a:t>
            </a:fld>
            <a:r>
              <a:rPr spc="5" dirty="0"/>
              <a:t> </a:t>
            </a:r>
            <a:r>
              <a:rPr dirty="0"/>
              <a:t>/</a:t>
            </a:r>
            <a:r>
              <a:rPr spc="10" dirty="0"/>
              <a:t> </a:t>
            </a:r>
            <a:r>
              <a:rPr spc="-25" dirty="0"/>
              <a:t>11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BF78F5D-C4F5-6D5C-4D03-815ED4A0F1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0718823"/>
              </p:ext>
            </p:extLst>
          </p:nvPr>
        </p:nvGraphicFramePr>
        <p:xfrm>
          <a:off x="119620" y="480195"/>
          <a:ext cx="5386807" cy="2231807"/>
        </p:xfrm>
        <a:graphic>
          <a:graphicData uri="http://schemas.openxmlformats.org/drawingml/2006/table">
            <a:tbl>
              <a:tblPr/>
              <a:tblGrid>
                <a:gridCol w="1828958">
                  <a:extLst>
                    <a:ext uri="{9D8B030D-6E8A-4147-A177-3AD203B41FA5}">
                      <a16:colId xmlns:a16="http://schemas.microsoft.com/office/drawing/2014/main" val="314275564"/>
                    </a:ext>
                  </a:extLst>
                </a:gridCol>
                <a:gridCol w="1940645">
                  <a:extLst>
                    <a:ext uri="{9D8B030D-6E8A-4147-A177-3AD203B41FA5}">
                      <a16:colId xmlns:a16="http://schemas.microsoft.com/office/drawing/2014/main" val="3565611705"/>
                    </a:ext>
                  </a:extLst>
                </a:gridCol>
                <a:gridCol w="1617204">
                  <a:extLst>
                    <a:ext uri="{9D8B030D-6E8A-4147-A177-3AD203B41FA5}">
                      <a16:colId xmlns:a16="http://schemas.microsoft.com/office/drawing/2014/main" val="974896207"/>
                    </a:ext>
                  </a:extLst>
                </a:gridCol>
              </a:tblGrid>
              <a:tr h="263818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650" b="1" i="0" u="none" strike="noStrike" dirty="0">
                          <a:solidFill>
                            <a:srgbClr val="0F172A"/>
                          </a:solidFill>
                          <a:effectLst/>
                          <a:latin typeface="Inter"/>
                        </a:rPr>
                        <a:t>Research Source &amp; Standard</a:t>
                      </a:r>
                      <a:endParaRPr lang="en-IN" sz="650" dirty="0">
                        <a:effectLst/>
                      </a:endParaRPr>
                    </a:p>
                    <a:p>
                      <a:pPr fontAlgn="ctr">
                        <a:buNone/>
                      </a:pPr>
                      <a:endParaRPr lang="en-IN" sz="650" dirty="0">
                        <a:effectLst/>
                      </a:endParaRPr>
                    </a:p>
                  </a:txBody>
                  <a:tcPr marL="53340" marR="53340" marT="22860" marB="2286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650" b="1" i="0" u="none" strike="noStrike">
                          <a:solidFill>
                            <a:srgbClr val="0F172A"/>
                          </a:solidFill>
                          <a:effectLst/>
                          <a:latin typeface="Inter"/>
                        </a:rPr>
                        <a:t>Contribution to Our Design</a:t>
                      </a:r>
                      <a:endParaRPr lang="en-IN" sz="650">
                        <a:effectLst/>
                      </a:endParaRPr>
                    </a:p>
                    <a:p>
                      <a:pPr fontAlgn="ctr">
                        <a:buNone/>
                      </a:pPr>
                      <a:endParaRPr lang="en-IN" sz="650">
                        <a:effectLst/>
                      </a:endParaRPr>
                    </a:p>
                  </a:txBody>
                  <a:tcPr marL="53340" marR="53340" marT="22860" marB="2286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650" b="1" i="0" u="none" strike="noStrike" dirty="0">
                          <a:solidFill>
                            <a:srgbClr val="64748B"/>
                          </a:solidFill>
                          <a:effectLst/>
                          <a:latin typeface="Inter"/>
                        </a:rPr>
                        <a:t>Boundary / Limitation</a:t>
                      </a:r>
                      <a:endParaRPr lang="en-IN" sz="650" dirty="0">
                        <a:effectLst/>
                      </a:endParaRPr>
                    </a:p>
                    <a:p>
                      <a:pPr fontAlgn="ctr">
                        <a:buNone/>
                      </a:pPr>
                      <a:endParaRPr lang="en-IN" sz="650" dirty="0">
                        <a:effectLst/>
                      </a:endParaRPr>
                    </a:p>
                  </a:txBody>
                  <a:tcPr marL="53340" marR="53340" marT="22860" marB="2286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6740707"/>
                  </a:ext>
                </a:extLst>
              </a:tr>
              <a:tr h="345782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650" b="1" i="0" u="none" strike="noStrike">
                          <a:solidFill>
                            <a:srgbClr val="0F172A"/>
                          </a:solidFill>
                          <a:effectLst/>
                          <a:latin typeface="Inter"/>
                        </a:rPr>
                        <a:t>NIST SP 800-207</a:t>
                      </a:r>
                      <a:r>
                        <a:rPr lang="en-IN" sz="650" b="0" i="0" u="none" strike="noStrike">
                          <a:solidFill>
                            <a:srgbClr val="64748B"/>
                          </a:solidFill>
                          <a:effectLst/>
                          <a:latin typeface="Inter"/>
                        </a:rPr>
                        <a:t>Zero Trust Architecture</a:t>
                      </a:r>
                      <a:r>
                        <a:rPr lang="en-IN" sz="650" b="0" i="0" u="none" strike="noStrike">
                          <a:solidFill>
                            <a:srgbClr val="0F766E"/>
                          </a:solidFill>
                          <a:effectLst/>
                          <a:latin typeface="Inter"/>
                        </a:rPr>
                        <a:t>  csrc.nist.gov/pubs/sp/800/207 </a:t>
                      </a:r>
                      <a:endParaRPr lang="en-IN" sz="650">
                        <a:effectLst/>
                      </a:endParaRPr>
                    </a:p>
                    <a:p>
                      <a:pPr fontAlgn="ctr">
                        <a:buNone/>
                      </a:pPr>
                      <a:endParaRPr lang="en-IN" sz="650">
                        <a:effectLst/>
                      </a:endParaRPr>
                    </a:p>
                  </a:txBody>
                  <a:tcPr marL="160020" marR="53340" marT="22860" marB="2286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650" b="0" i="0" u="none" strike="noStrike">
                          <a:solidFill>
                            <a:srgbClr val="334155"/>
                          </a:solidFill>
                          <a:effectLst/>
                          <a:latin typeface="Inter"/>
                        </a:rPr>
                        <a:t>Supports explicit authorization rather than trusting network location alone.</a:t>
                      </a:r>
                      <a:endParaRPr lang="en-IN" sz="650">
                        <a:effectLst/>
                      </a:endParaRPr>
                    </a:p>
                    <a:p>
                      <a:pPr fontAlgn="ctr">
                        <a:buNone/>
                      </a:pPr>
                      <a:endParaRPr lang="en-IN" sz="650">
                        <a:effectLst/>
                      </a:endParaRPr>
                    </a:p>
                  </a:txBody>
                  <a:tcPr marL="53340" marR="53340" marT="22860" marB="2286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650" b="0" i="0" u="none" strike="noStrike">
                          <a:solidFill>
                            <a:srgbClr val="64748B"/>
                          </a:solidFill>
                          <a:effectLst/>
                          <a:latin typeface="Inter"/>
                        </a:rPr>
                        <a:t>Does not validate our specific failover implementation.</a:t>
                      </a:r>
                      <a:endParaRPr lang="en-IN" sz="650">
                        <a:effectLst/>
                      </a:endParaRPr>
                    </a:p>
                    <a:p>
                      <a:pPr fontAlgn="ctr">
                        <a:buNone/>
                      </a:pPr>
                      <a:endParaRPr lang="en-IN" sz="650">
                        <a:effectLst/>
                      </a:endParaRPr>
                    </a:p>
                  </a:txBody>
                  <a:tcPr marL="53340" marR="53340" marT="22860" marB="2286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164492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650" b="1" i="0" u="none" strike="noStrike" dirty="0">
                          <a:solidFill>
                            <a:srgbClr val="0F172A"/>
                          </a:solidFill>
                          <a:effectLst/>
                          <a:latin typeface="Inter"/>
                        </a:rPr>
                        <a:t>Open Policy Agent (OPA)</a:t>
                      </a:r>
                      <a:r>
                        <a:rPr lang="en-IN" sz="650" b="0" i="0" u="none" strike="noStrike" dirty="0">
                          <a:solidFill>
                            <a:srgbClr val="64748B"/>
                          </a:solidFill>
                          <a:effectLst/>
                          <a:latin typeface="Inter"/>
                        </a:rPr>
                        <a:t>Official Documentation</a:t>
                      </a:r>
                      <a:r>
                        <a:rPr lang="en-IN" sz="650" b="0" i="0" u="none" strike="noStrike" dirty="0">
                          <a:solidFill>
                            <a:srgbClr val="0F766E"/>
                          </a:solidFill>
                          <a:effectLst/>
                          <a:latin typeface="Inter"/>
                        </a:rPr>
                        <a:t>  openpolicyagent.org/docs </a:t>
                      </a:r>
                      <a:endParaRPr lang="en-IN" sz="650" dirty="0">
                        <a:effectLst/>
                      </a:endParaRPr>
                    </a:p>
                    <a:p>
                      <a:pPr fontAlgn="ctr">
                        <a:buNone/>
                      </a:pPr>
                      <a:endParaRPr lang="en-IN" sz="650" dirty="0">
                        <a:effectLst/>
                      </a:endParaRPr>
                    </a:p>
                  </a:txBody>
                  <a:tcPr marL="160020" marR="53340" marT="22860" marB="2286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650" b="0" i="0" u="none" strike="noStrike">
                          <a:solidFill>
                            <a:srgbClr val="334155"/>
                          </a:solidFill>
                          <a:effectLst/>
                          <a:latin typeface="Inter"/>
                        </a:rPr>
                        <a:t>Supports policy-as-code and separation of policy decision-making from enforcement.</a:t>
                      </a:r>
                      <a:endParaRPr lang="en-IN" sz="650">
                        <a:effectLst/>
                      </a:endParaRPr>
                    </a:p>
                    <a:p>
                      <a:pPr fontAlgn="ctr">
                        <a:buNone/>
                      </a:pPr>
                      <a:endParaRPr lang="en-IN" sz="650">
                        <a:effectLst/>
                      </a:endParaRPr>
                    </a:p>
                  </a:txBody>
                  <a:tcPr marL="53340" marR="53340" marT="22860" marB="2286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650" b="0" i="0" u="none" strike="noStrike">
                          <a:solidFill>
                            <a:srgbClr val="64748B"/>
                          </a:solidFill>
                          <a:effectLst/>
                          <a:latin typeface="Inter"/>
                        </a:rPr>
                        <a:t>Does not guarantee that our policies are correct or complete.</a:t>
                      </a:r>
                      <a:endParaRPr lang="en-IN" sz="650">
                        <a:effectLst/>
                      </a:endParaRPr>
                    </a:p>
                    <a:p>
                      <a:pPr fontAlgn="ctr">
                        <a:buNone/>
                      </a:pPr>
                      <a:endParaRPr lang="en-IN" sz="650">
                        <a:effectLst/>
                      </a:endParaRPr>
                    </a:p>
                  </a:txBody>
                  <a:tcPr marL="53340" marR="53340" marT="22860" marB="2286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885581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650" b="1" i="0" u="none" strike="noStrike">
                          <a:solidFill>
                            <a:srgbClr val="0F172A"/>
                          </a:solidFill>
                          <a:effectLst/>
                          <a:latin typeface="Inter"/>
                        </a:rPr>
                        <a:t>Kubernetes</a:t>
                      </a:r>
                      <a:r>
                        <a:rPr lang="en-IN" sz="650" b="0" i="0" u="none" strike="noStrike">
                          <a:solidFill>
                            <a:srgbClr val="64748B"/>
                          </a:solidFill>
                          <a:effectLst/>
                          <a:latin typeface="Inter"/>
                        </a:rPr>
                        <a:t>Container Probes Specification</a:t>
                      </a:r>
                      <a:r>
                        <a:rPr lang="en-IN" sz="650" b="0" i="0" u="none" strike="noStrike">
                          <a:solidFill>
                            <a:srgbClr val="0F766E"/>
                          </a:solidFill>
                          <a:effectLst/>
                          <a:latin typeface="Inter"/>
                        </a:rPr>
                        <a:t>  kubernetes.io/docs/pods/probes </a:t>
                      </a:r>
                      <a:endParaRPr lang="en-IN" sz="650">
                        <a:effectLst/>
                      </a:endParaRPr>
                    </a:p>
                    <a:p>
                      <a:pPr fontAlgn="ctr">
                        <a:buNone/>
                      </a:pPr>
                      <a:endParaRPr lang="en-IN" sz="650">
                        <a:effectLst/>
                      </a:endParaRPr>
                    </a:p>
                  </a:txBody>
                  <a:tcPr marL="160020" marR="53340" marT="22860" marB="2286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650" b="0" i="0" u="none" strike="noStrike">
                          <a:solidFill>
                            <a:srgbClr val="334155"/>
                          </a:solidFill>
                          <a:effectLst/>
                          <a:latin typeface="Inter"/>
                        </a:rPr>
                        <a:t>Explains health checks, readiness checks, and liveness checks.</a:t>
                      </a:r>
                      <a:endParaRPr lang="en-IN" sz="650">
                        <a:effectLst/>
                      </a:endParaRPr>
                    </a:p>
                    <a:p>
                      <a:pPr fontAlgn="ctr">
                        <a:buNone/>
                      </a:pPr>
                      <a:endParaRPr lang="en-IN" sz="650">
                        <a:effectLst/>
                      </a:endParaRPr>
                    </a:p>
                  </a:txBody>
                  <a:tcPr marL="53340" marR="53340" marT="22860" marB="2286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650" b="0" i="0" u="none" strike="noStrike">
                          <a:solidFill>
                            <a:srgbClr val="64748B"/>
                          </a:solidFill>
                          <a:effectLst/>
                          <a:latin typeface="Inter"/>
                        </a:rPr>
                        <a:t>Health and readiness checks do not establish authorization.</a:t>
                      </a:r>
                      <a:endParaRPr lang="en-IN" sz="650">
                        <a:effectLst/>
                      </a:endParaRPr>
                    </a:p>
                    <a:p>
                      <a:pPr fontAlgn="ctr">
                        <a:buNone/>
                      </a:pPr>
                      <a:endParaRPr lang="en-IN" sz="650">
                        <a:effectLst/>
                      </a:endParaRPr>
                    </a:p>
                  </a:txBody>
                  <a:tcPr marL="53340" marR="53340" marT="22860" marB="2286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307455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650" b="1" i="0" u="none" strike="noStrike">
                          <a:solidFill>
                            <a:srgbClr val="0F172A"/>
                          </a:solidFill>
                          <a:effectLst/>
                          <a:latin typeface="Inter"/>
                        </a:rPr>
                        <a:t>Envoy Proxy</a:t>
                      </a:r>
                      <a:r>
                        <a:rPr lang="en-IN" sz="650" b="0" i="0" u="none" strike="noStrike">
                          <a:solidFill>
                            <a:srgbClr val="64748B"/>
                          </a:solidFill>
                          <a:effectLst/>
                          <a:latin typeface="Inter"/>
                        </a:rPr>
                        <a:t>Upstream Health Checking Architecture</a:t>
                      </a:r>
                      <a:r>
                        <a:rPr lang="en-IN" sz="650" b="0" i="0" u="none" strike="noStrike">
                          <a:solidFill>
                            <a:srgbClr val="0F766E"/>
                          </a:solidFill>
                          <a:effectLst/>
                          <a:latin typeface="Inter"/>
                        </a:rPr>
                        <a:t>  envoyproxy.io/docs/health_checking </a:t>
                      </a:r>
                      <a:endParaRPr lang="en-IN" sz="650">
                        <a:effectLst/>
                      </a:endParaRPr>
                    </a:p>
                    <a:p>
                      <a:pPr fontAlgn="ctr">
                        <a:buNone/>
                      </a:pPr>
                      <a:endParaRPr lang="en-IN" sz="650">
                        <a:effectLst/>
                      </a:endParaRPr>
                    </a:p>
                  </a:txBody>
                  <a:tcPr marL="160020" marR="53340" marT="22860" marB="2286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650" b="0" i="0" u="none" strike="noStrike">
                          <a:solidFill>
                            <a:srgbClr val="334155"/>
                          </a:solidFill>
                          <a:effectLst/>
                          <a:latin typeface="Inter"/>
                        </a:rPr>
                        <a:t>Documents mechanisms for checking the health of upstream services.</a:t>
                      </a:r>
                      <a:endParaRPr lang="en-IN" sz="650">
                        <a:effectLst/>
                      </a:endParaRPr>
                    </a:p>
                    <a:p>
                      <a:pPr fontAlgn="ctr">
                        <a:buNone/>
                      </a:pPr>
                      <a:endParaRPr lang="en-IN" sz="650">
                        <a:effectLst/>
                      </a:endParaRPr>
                    </a:p>
                  </a:txBody>
                  <a:tcPr marL="53340" marR="53340" marT="22860" marB="2286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650" b="0" i="0" u="none" strike="noStrike">
                          <a:solidFill>
                            <a:srgbClr val="64748B"/>
                          </a:solidFill>
                          <a:effectLst/>
                          <a:latin typeface="Inter"/>
                        </a:rPr>
                        <a:t>Health checking alone does not enforce our policy constraints.</a:t>
                      </a:r>
                      <a:endParaRPr lang="en-IN" sz="650">
                        <a:effectLst/>
                      </a:endParaRPr>
                    </a:p>
                    <a:p>
                      <a:pPr fontAlgn="ctr">
                        <a:buNone/>
                      </a:pPr>
                      <a:endParaRPr lang="en-IN" sz="650">
                        <a:effectLst/>
                      </a:endParaRPr>
                    </a:p>
                  </a:txBody>
                  <a:tcPr marL="53340" marR="53340" marT="22860" marB="2286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6148775"/>
                  </a:ext>
                </a:extLst>
              </a:tr>
              <a:tr h="418247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650" b="1" i="0" u="none" strike="noStrike" dirty="0">
                          <a:solidFill>
                            <a:srgbClr val="0F172A"/>
                          </a:solidFill>
                          <a:effectLst/>
                          <a:latin typeface="Inter"/>
                        </a:rPr>
                        <a:t>IETF RFC 5880</a:t>
                      </a:r>
                      <a:r>
                        <a:rPr lang="en-IN" sz="650" b="0" i="0" u="none" strike="noStrike" dirty="0">
                          <a:solidFill>
                            <a:srgbClr val="64748B"/>
                          </a:solidFill>
                          <a:effectLst/>
                          <a:latin typeface="Inter"/>
                        </a:rPr>
                        <a:t>Bidirectional Forwarding Detection (BFD)</a:t>
                      </a:r>
                      <a:r>
                        <a:rPr lang="en-IN" sz="650" b="0" i="0" u="none" strike="noStrike" dirty="0">
                          <a:solidFill>
                            <a:srgbClr val="0F766E"/>
                          </a:solidFill>
                          <a:effectLst/>
                          <a:latin typeface="Inter"/>
                        </a:rPr>
                        <a:t>  rfc-editor.org/</a:t>
                      </a:r>
                      <a:r>
                        <a:rPr lang="en-IN" sz="650" b="0" i="0" u="none" strike="noStrike" dirty="0" err="1">
                          <a:solidFill>
                            <a:srgbClr val="0F766E"/>
                          </a:solidFill>
                          <a:effectLst/>
                          <a:latin typeface="Inter"/>
                        </a:rPr>
                        <a:t>rfc</a:t>
                      </a:r>
                      <a:r>
                        <a:rPr lang="en-IN" sz="650" b="0" i="0" u="none" strike="noStrike" dirty="0">
                          <a:solidFill>
                            <a:srgbClr val="0F766E"/>
                          </a:solidFill>
                          <a:effectLst/>
                          <a:latin typeface="Inter"/>
                        </a:rPr>
                        <a:t>/rfc5880 </a:t>
                      </a:r>
                      <a:endParaRPr lang="en-IN" sz="650" dirty="0">
                        <a:effectLst/>
                      </a:endParaRPr>
                    </a:p>
                    <a:p>
                      <a:pPr fontAlgn="ctr">
                        <a:buNone/>
                      </a:pPr>
                      <a:endParaRPr lang="en-IN" sz="650" dirty="0">
                        <a:effectLst/>
                      </a:endParaRPr>
                    </a:p>
                  </a:txBody>
                  <a:tcPr marL="160020" marR="53340" marT="22860" marB="2286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650" b="0" i="0" u="none" strike="noStrike" dirty="0">
                          <a:solidFill>
                            <a:srgbClr val="334155"/>
                          </a:solidFill>
                          <a:effectLst/>
                          <a:latin typeface="Inter"/>
                        </a:rPr>
                        <a:t>Defines BFD for detecting faults in bidirectional forwarding paths.</a:t>
                      </a:r>
                      <a:endParaRPr lang="en-IN" sz="650" dirty="0">
                        <a:effectLst/>
                      </a:endParaRPr>
                    </a:p>
                    <a:p>
                      <a:pPr fontAlgn="ctr">
                        <a:buNone/>
                      </a:pPr>
                      <a:endParaRPr lang="en-IN" sz="650" dirty="0">
                        <a:effectLst/>
                      </a:endParaRPr>
                    </a:p>
                  </a:txBody>
                  <a:tcPr marL="53340" marR="53340" marT="22860" marB="2286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650" b="0" i="0" u="none" strike="noStrike" dirty="0">
                          <a:solidFill>
                            <a:srgbClr val="64748B"/>
                          </a:solidFill>
                          <a:effectLst/>
                          <a:latin typeface="Inter"/>
                        </a:rPr>
                        <a:t>Does not provide end-to-end service authorization.</a:t>
                      </a:r>
                      <a:endParaRPr lang="en-IN" sz="650" dirty="0">
                        <a:effectLst/>
                      </a:endParaRPr>
                    </a:p>
                    <a:p>
                      <a:pPr fontAlgn="ctr">
                        <a:buNone/>
                      </a:pPr>
                      <a:endParaRPr lang="en-IN" sz="650" dirty="0">
                        <a:effectLst/>
                      </a:endParaRPr>
                    </a:p>
                  </a:txBody>
                  <a:tcPr marL="53340" marR="53340" marT="22860" marB="2286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2206526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7E866410-8AC9-B0C5-29E0-0429224B2D77}"/>
              </a:ext>
            </a:extLst>
          </p:cNvPr>
          <p:cNvSpPr txBox="1"/>
          <p:nvPr/>
        </p:nvSpPr>
        <p:spPr>
          <a:xfrm>
            <a:off x="63500" y="2799298"/>
            <a:ext cx="5442927" cy="215444"/>
          </a:xfrm>
          <a:prstGeom prst="rect">
            <a:avLst/>
          </a:prstGeom>
          <a:noFill/>
          <a:ln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750" b="1" dirty="0"/>
              <a:t>Key Research Takeaway: </a:t>
            </a:r>
            <a:r>
              <a:rPr lang="en-US" sz="600" b="1" dirty="0"/>
              <a:t>“</a:t>
            </a:r>
            <a:r>
              <a:rPr lang="en-US" sz="600" dirty="0"/>
              <a:t>Established standards inform our design; implementation effectiveness must be demonstrated through testing.”</a:t>
            </a:r>
            <a:endParaRPr lang="en-IN" sz="750" b="1" dirty="0"/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08224" y="16997"/>
            <a:ext cx="3048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dirty="0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AIORI</a:t>
            </a:r>
            <a:r>
              <a:rPr sz="600" b="1" spc="40" dirty="0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 </a:t>
            </a:r>
            <a:r>
              <a:rPr sz="600" b="1" spc="-50" dirty="0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3</a:t>
            </a:r>
            <a:endParaRPr sz="6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47016" y="16997"/>
            <a:ext cx="70675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10" dirty="0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Proposed</a:t>
            </a:r>
            <a:r>
              <a:rPr sz="600" b="1" spc="35" dirty="0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 </a:t>
            </a:r>
            <a:r>
              <a:rPr sz="600" b="1" spc="-10" dirty="0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Solution</a:t>
            </a:r>
            <a:endParaRPr sz="6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9293" y="198244"/>
            <a:ext cx="145224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-100" dirty="0">
                <a:solidFill>
                  <a:srgbClr val="0000DC"/>
                </a:solidFill>
                <a:latin typeface="Century Gothic"/>
                <a:cs typeface="Century Gothic"/>
              </a:rPr>
              <a:t>Proposed</a:t>
            </a:r>
            <a:r>
              <a:rPr sz="1400" b="1" spc="25" dirty="0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sz="1400" b="1" spc="-10" dirty="0">
                <a:solidFill>
                  <a:srgbClr val="0000DC"/>
                </a:solidFill>
                <a:latin typeface="Century Gothic"/>
                <a:cs typeface="Century Gothic"/>
              </a:rPr>
              <a:t>Solution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1696" y="567732"/>
            <a:ext cx="3691804" cy="153503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r>
              <a:rPr lang="en-IN" sz="900" b="1" u="sng" dirty="0"/>
              <a:t>Policy-Constrained Service Failover</a:t>
            </a:r>
          </a:p>
          <a:p>
            <a:endParaRPr lang="en-IN" sz="900" b="1" dirty="0"/>
          </a:p>
          <a:p>
            <a:r>
              <a:rPr lang="en-IN" sz="900" b="1" dirty="0"/>
              <a:t>Objective:</a:t>
            </a:r>
            <a:r>
              <a:rPr lang="en-IN" sz="900" dirty="0"/>
              <a:t> Restore service availability without violating security or operational policies.</a:t>
            </a:r>
          </a:p>
          <a:p>
            <a:r>
              <a:rPr lang="en-IN" sz="900" b="1" dirty="0"/>
              <a:t>1.    Detect &amp; Discover</a:t>
            </a:r>
            <a:br>
              <a:rPr lang="en-IN" sz="900" dirty="0"/>
            </a:br>
            <a:r>
              <a:rPr lang="en-IN" sz="900" dirty="0"/>
              <a:t>       Identify service failures and discover alternative endpoints.</a:t>
            </a:r>
          </a:p>
          <a:p>
            <a:r>
              <a:rPr lang="en-IN" sz="900" b="1" dirty="0"/>
              <a:t>2.    Validate &amp; Authorize</a:t>
            </a:r>
            <a:br>
              <a:rPr lang="en-IN" sz="900" dirty="0"/>
            </a:br>
            <a:r>
              <a:rPr lang="en-IN" sz="900" dirty="0"/>
              <a:t>       Check health, readiness, and policy compliance before selection.</a:t>
            </a:r>
          </a:p>
          <a:p>
            <a:r>
              <a:rPr lang="en-IN" sz="900" b="1" dirty="0"/>
              <a:t>3.    Enforce &amp; Audit</a:t>
            </a:r>
            <a:br>
              <a:rPr lang="en-IN" sz="900" dirty="0"/>
            </a:br>
            <a:r>
              <a:rPr lang="en-IN" sz="900" dirty="0"/>
              <a:t>       Redirect traffic only to an eligible candidate and record the outcome.</a:t>
            </a:r>
          </a:p>
          <a:p>
            <a:endParaRPr lang="en-IN" sz="900" dirty="0"/>
          </a:p>
        </p:txBody>
      </p:sp>
      <p:sp>
        <p:nvSpPr>
          <p:cNvPr id="6" name="object 6"/>
          <p:cNvSpPr txBox="1"/>
          <p:nvPr/>
        </p:nvSpPr>
        <p:spPr>
          <a:xfrm>
            <a:off x="161187" y="3005789"/>
            <a:ext cx="1608455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15"/>
              </a:lnSpc>
            </a:pPr>
            <a:r>
              <a:rPr lang="en-US" sz="600" i="1" spc="-60" baseline="-7936" dirty="0">
                <a:solidFill>
                  <a:srgbClr val="0000DC"/>
                </a:solidFill>
                <a:latin typeface="Century Gothic"/>
                <a:cs typeface="Arial Narrow"/>
              </a:rPr>
              <a:t>Vishal Raj</a:t>
            </a:r>
            <a:r>
              <a:rPr lang="en-US" sz="2100" i="1" baseline="-7936" dirty="0">
                <a:solidFill>
                  <a:srgbClr val="0000DC"/>
                </a:solidFill>
                <a:latin typeface="Arial Narrow"/>
                <a:cs typeface="Arial Narrow"/>
              </a:rPr>
              <a:t>·</a:t>
            </a:r>
            <a:r>
              <a:rPr lang="en-US" sz="2100" i="1" spc="-202" baseline="-7936" dirty="0">
                <a:solidFill>
                  <a:srgbClr val="0000DC"/>
                </a:solidFill>
                <a:latin typeface="Arial Narrow"/>
                <a:cs typeface="Arial Narrow"/>
              </a:rPr>
              <a:t> </a:t>
            </a:r>
            <a:r>
              <a:rPr lang="en-US" sz="800" i="1" spc="-45" baseline="-7936" dirty="0">
                <a:solidFill>
                  <a:srgbClr val="0000DC"/>
                </a:solidFill>
                <a:latin typeface="Arial Narrow"/>
                <a:cs typeface="Arial Narrow"/>
              </a:rPr>
              <a:t>A3</a:t>
            </a:r>
            <a:r>
              <a:rPr lang="en-US" sz="600" b="1" i="1" spc="10" baseline="-7936" dirty="0">
                <a:solidFill>
                  <a:srgbClr val="0000DC"/>
                </a:solidFill>
                <a:latin typeface="Century Gothic"/>
                <a:cs typeface="Arial Narrow"/>
              </a:rPr>
              <a:t>-PS006-TC385</a:t>
            </a:r>
            <a:r>
              <a:rPr lang="en-US" sz="2100" i="1" baseline="-7936" dirty="0">
                <a:solidFill>
                  <a:srgbClr val="0000DC"/>
                </a:solidFill>
                <a:latin typeface="Arial Narrow"/>
                <a:cs typeface="Arial Narrow"/>
              </a:rPr>
              <a:t>·</a:t>
            </a:r>
            <a:r>
              <a:rPr lang="en-US" sz="2100" i="1" spc="-202" baseline="-7936" dirty="0">
                <a:solidFill>
                  <a:srgbClr val="0000DC"/>
                </a:solidFill>
                <a:latin typeface="Arial Narrow"/>
                <a:cs typeface="Arial Narrow"/>
              </a:rPr>
              <a:t> </a:t>
            </a:r>
            <a:r>
              <a:rPr lang="en-US" sz="600" spc="-20" dirty="0">
                <a:solidFill>
                  <a:srgbClr val="0000DC"/>
                </a:solidFill>
                <a:latin typeface="Century Gothic"/>
                <a:cs typeface="Century Gothic"/>
              </a:rPr>
              <a:t>October</a:t>
            </a:r>
            <a:r>
              <a:rPr lang="en-US" sz="600" spc="10" dirty="0">
                <a:solidFill>
                  <a:srgbClr val="0000DC"/>
                </a:solidFill>
                <a:latin typeface="Century Gothic"/>
                <a:cs typeface="Century Gothic"/>
              </a:rPr>
              <a:t> 14</a:t>
            </a:r>
            <a:r>
              <a:rPr lang="en-US" sz="600" dirty="0">
                <a:solidFill>
                  <a:srgbClr val="0000DC"/>
                </a:solidFill>
                <a:latin typeface="Century Gothic"/>
                <a:cs typeface="Century Gothic"/>
              </a:rPr>
              <a:t>,</a:t>
            </a:r>
            <a:r>
              <a:rPr lang="en-US" sz="600" spc="10" dirty="0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lang="en-US" sz="600" spc="-20" dirty="0">
                <a:solidFill>
                  <a:srgbClr val="0000DC"/>
                </a:solidFill>
                <a:latin typeface="Century Gothic"/>
                <a:cs typeface="Century Gothic"/>
              </a:rPr>
              <a:t>2026</a:t>
            </a:r>
            <a:endParaRPr lang="en-US" sz="600" dirty="0">
              <a:latin typeface="Century Gothic"/>
              <a:cs typeface="Century Gothic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dirty="0"/>
              <a:t>5</a:t>
            </a:fld>
            <a:r>
              <a:rPr spc="5" dirty="0"/>
              <a:t> </a:t>
            </a:r>
            <a:r>
              <a:rPr dirty="0"/>
              <a:t>/</a:t>
            </a:r>
            <a:r>
              <a:rPr spc="10" dirty="0"/>
              <a:t> </a:t>
            </a:r>
            <a:r>
              <a:rPr spc="-25" dirty="0"/>
              <a:t>11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40E672E-D7AD-BBA3-179F-0A7D33856C5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9700" y="784225"/>
            <a:ext cx="1752600" cy="1905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5161B8F-3518-1CE6-4F37-A8110507B6AC}"/>
              </a:ext>
            </a:extLst>
          </p:cNvPr>
          <p:cNvSpPr txBox="1"/>
          <p:nvPr/>
        </p:nvSpPr>
        <p:spPr>
          <a:xfrm>
            <a:off x="368300" y="2244926"/>
            <a:ext cx="3177473" cy="461665"/>
          </a:xfrm>
          <a:prstGeom prst="rect">
            <a:avLst/>
          </a:prstGeom>
          <a:noFill/>
          <a:ln>
            <a:solidFill>
              <a:schemeClr val="accent3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IN" sz="800" b="1" dirty="0"/>
              <a:t>Decision Rule:</a:t>
            </a:r>
          </a:p>
          <a:p>
            <a:r>
              <a:rPr lang="en-IN" sz="800" b="1" dirty="0"/>
              <a:t>Healthy + Authorized = Eligible for Failover</a:t>
            </a:r>
            <a:endParaRPr lang="en-IN" sz="800" dirty="0"/>
          </a:p>
          <a:p>
            <a:r>
              <a:rPr lang="en-IN" sz="800" dirty="0"/>
              <a:t>If no eligible candidate exists, deny the failover and raise an alert.</a:t>
            </a: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08224" y="16997"/>
            <a:ext cx="3048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dirty="0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AIORI</a:t>
            </a:r>
            <a:r>
              <a:rPr sz="600" b="1" spc="40" dirty="0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 </a:t>
            </a:r>
            <a:r>
              <a:rPr sz="600" b="1" spc="-50" dirty="0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3</a:t>
            </a:r>
            <a:endParaRPr sz="6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47016" y="16997"/>
            <a:ext cx="84772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10" dirty="0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Solution</a:t>
            </a:r>
            <a:r>
              <a:rPr sz="600" b="1" spc="95" dirty="0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 </a:t>
            </a:r>
            <a:r>
              <a:rPr sz="600" b="1" spc="-10" dirty="0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Optimization</a:t>
            </a:r>
            <a:endParaRPr sz="6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9293" y="198244"/>
            <a:ext cx="180848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-60" dirty="0">
                <a:solidFill>
                  <a:srgbClr val="0000DC"/>
                </a:solidFill>
                <a:latin typeface="Century Gothic"/>
                <a:cs typeface="Century Gothic"/>
              </a:rPr>
              <a:t>Optimization</a:t>
            </a:r>
            <a:r>
              <a:rPr sz="1400" b="1" dirty="0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sz="1400" b="1" spc="-80" dirty="0">
                <a:solidFill>
                  <a:srgbClr val="0000DC"/>
                </a:solidFill>
                <a:latin typeface="Century Gothic"/>
                <a:cs typeface="Century Gothic"/>
              </a:rPr>
              <a:t>Proposed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2100" y="631825"/>
            <a:ext cx="3429000" cy="2053767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r>
              <a:rPr lang="en-IN" sz="700" b="1" u="sng" dirty="0"/>
              <a:t>Intelligent &amp; Policy-Aware Failover</a:t>
            </a:r>
          </a:p>
          <a:p>
            <a:r>
              <a:rPr lang="en-IN" sz="700" b="1" dirty="0"/>
              <a:t>Objective:</a:t>
            </a:r>
            <a:r>
              <a:rPr lang="en-IN" sz="700" dirty="0"/>
              <a:t> Select the best available backup service without compromising security policies.</a:t>
            </a:r>
          </a:p>
          <a:p>
            <a:endParaRPr lang="en-IN" sz="700" dirty="0"/>
          </a:p>
          <a:p>
            <a:r>
              <a:rPr lang="en-IN" sz="700" b="1" dirty="0"/>
              <a:t>Key Optimization Strategies</a:t>
            </a:r>
          </a:p>
          <a:p>
            <a:endParaRPr lang="en-IN" sz="700" dirty="0"/>
          </a:p>
          <a:p>
            <a:pPr lvl="0"/>
            <a:r>
              <a:rPr lang="en-IN" sz="700" b="1" dirty="0"/>
              <a:t>Health-Based Filtering:</a:t>
            </a:r>
            <a:r>
              <a:rPr lang="en-IN" sz="700" dirty="0"/>
              <a:t> Remove unhealthy or unready services.</a:t>
            </a:r>
          </a:p>
          <a:p>
            <a:pPr lvl="0"/>
            <a:r>
              <a:rPr lang="en-IN" sz="700" b="1" dirty="0"/>
              <a:t>Policy-Based Selection:</a:t>
            </a:r>
            <a:r>
              <a:rPr lang="en-IN" sz="700" dirty="0"/>
              <a:t> Reject destinations that violate security or operational rules.</a:t>
            </a:r>
          </a:p>
          <a:p>
            <a:pPr lvl="0"/>
            <a:r>
              <a:rPr lang="en-IN" sz="700" b="1" dirty="0"/>
              <a:t>Latency Optimization:</a:t>
            </a:r>
            <a:r>
              <a:rPr lang="en-IN" sz="700" dirty="0"/>
              <a:t> Prefer eligible services with lower response times.</a:t>
            </a:r>
          </a:p>
          <a:p>
            <a:pPr lvl="0"/>
            <a:r>
              <a:rPr lang="en-IN" sz="700" b="1" dirty="0"/>
              <a:t>Load Balancing:</a:t>
            </a:r>
            <a:r>
              <a:rPr lang="en-IN" sz="700" dirty="0"/>
              <a:t> Avoid overloading a single service.</a:t>
            </a:r>
          </a:p>
          <a:p>
            <a:pPr lvl="0"/>
            <a:r>
              <a:rPr lang="en-IN" sz="700" b="1" dirty="0"/>
              <a:t>Capacity Awareness:</a:t>
            </a:r>
            <a:r>
              <a:rPr lang="en-IN" sz="700" dirty="0"/>
              <a:t> Select a backup capable of handling incoming traffic.</a:t>
            </a:r>
          </a:p>
          <a:p>
            <a:pPr lvl="0"/>
            <a:r>
              <a:rPr lang="en-IN" sz="700" b="1" dirty="0"/>
              <a:t>Automated Failover:</a:t>
            </a:r>
            <a:r>
              <a:rPr lang="en-IN" sz="700" dirty="0"/>
              <a:t> Redirect traffic to the best eligible candidate and record the decision.</a:t>
            </a:r>
          </a:p>
          <a:p>
            <a:pPr lvl="0"/>
            <a:endParaRPr lang="en-IN" sz="700" dirty="0"/>
          </a:p>
          <a:p>
            <a:r>
              <a:rPr lang="en-IN" sz="700" b="1" dirty="0"/>
              <a:t>Expected Benefits</a:t>
            </a:r>
            <a:endParaRPr lang="en-IN" sz="700" dirty="0"/>
          </a:p>
          <a:p>
            <a:pPr lvl="0"/>
            <a:r>
              <a:rPr lang="en-IN" sz="700" dirty="0"/>
              <a:t>Faster and more reliable recovery.</a:t>
            </a:r>
          </a:p>
          <a:p>
            <a:pPr lvl="0"/>
            <a:r>
              <a:rPr lang="en-IN" sz="700" dirty="0"/>
              <a:t>Reduced risk of unauthorized routing.</a:t>
            </a:r>
          </a:p>
          <a:p>
            <a:pPr lvl="0"/>
            <a:r>
              <a:rPr lang="en-IN" sz="700" dirty="0"/>
              <a:t>Better utilization of available resources.</a:t>
            </a:r>
          </a:p>
          <a:p>
            <a:pPr lvl="0"/>
            <a:r>
              <a:rPr lang="en-IN" sz="700" dirty="0"/>
              <a:t>Transparent and auditable decisions.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39293" y="3050083"/>
            <a:ext cx="1608455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15"/>
              </a:lnSpc>
            </a:pPr>
            <a:r>
              <a:rPr lang="en-US" sz="600" i="1" spc="-60" baseline="-7936" dirty="0">
                <a:solidFill>
                  <a:srgbClr val="0000DC"/>
                </a:solidFill>
                <a:latin typeface="Century Gothic"/>
                <a:cs typeface="Arial Narrow"/>
              </a:rPr>
              <a:t>Vishal Raj</a:t>
            </a:r>
            <a:r>
              <a:rPr lang="en-US" sz="2100" i="1" baseline="-7936" dirty="0">
                <a:solidFill>
                  <a:srgbClr val="0000DC"/>
                </a:solidFill>
                <a:latin typeface="Arial Narrow"/>
                <a:cs typeface="Arial Narrow"/>
              </a:rPr>
              <a:t>·</a:t>
            </a:r>
            <a:r>
              <a:rPr lang="en-US" sz="2100" i="1" spc="-202" baseline="-7936" dirty="0">
                <a:solidFill>
                  <a:srgbClr val="0000DC"/>
                </a:solidFill>
                <a:latin typeface="Arial Narrow"/>
                <a:cs typeface="Arial Narrow"/>
              </a:rPr>
              <a:t> </a:t>
            </a:r>
            <a:r>
              <a:rPr lang="en-US" sz="800" i="1" spc="-45" baseline="-7936" dirty="0">
                <a:solidFill>
                  <a:srgbClr val="0000DC"/>
                </a:solidFill>
                <a:latin typeface="Arial Narrow"/>
                <a:cs typeface="Arial Narrow"/>
              </a:rPr>
              <a:t>A3</a:t>
            </a:r>
            <a:r>
              <a:rPr lang="en-US" sz="600" b="1" i="1" spc="10" baseline="-7936" dirty="0">
                <a:solidFill>
                  <a:srgbClr val="0000DC"/>
                </a:solidFill>
                <a:latin typeface="Century Gothic"/>
                <a:cs typeface="Arial Narrow"/>
              </a:rPr>
              <a:t>-PS006-TC385</a:t>
            </a:r>
            <a:r>
              <a:rPr lang="en-US" sz="2100" i="1" baseline="-7936" dirty="0">
                <a:solidFill>
                  <a:srgbClr val="0000DC"/>
                </a:solidFill>
                <a:latin typeface="Arial Narrow"/>
                <a:cs typeface="Arial Narrow"/>
              </a:rPr>
              <a:t>·</a:t>
            </a:r>
            <a:r>
              <a:rPr lang="en-US" sz="2100" i="1" spc="-202" baseline="-7936" dirty="0">
                <a:solidFill>
                  <a:srgbClr val="0000DC"/>
                </a:solidFill>
                <a:latin typeface="Arial Narrow"/>
                <a:cs typeface="Arial Narrow"/>
              </a:rPr>
              <a:t> </a:t>
            </a:r>
            <a:r>
              <a:rPr lang="en-US" sz="600" spc="-20" dirty="0">
                <a:solidFill>
                  <a:srgbClr val="0000DC"/>
                </a:solidFill>
                <a:latin typeface="Century Gothic"/>
                <a:cs typeface="Century Gothic"/>
              </a:rPr>
              <a:t>October</a:t>
            </a:r>
            <a:r>
              <a:rPr lang="en-US" sz="600" spc="10" dirty="0">
                <a:solidFill>
                  <a:srgbClr val="0000DC"/>
                </a:solidFill>
                <a:latin typeface="Century Gothic"/>
                <a:cs typeface="Century Gothic"/>
              </a:rPr>
              <a:t> 14</a:t>
            </a:r>
            <a:r>
              <a:rPr lang="en-US" sz="600" dirty="0">
                <a:solidFill>
                  <a:srgbClr val="0000DC"/>
                </a:solidFill>
                <a:latin typeface="Century Gothic"/>
                <a:cs typeface="Century Gothic"/>
              </a:rPr>
              <a:t>,</a:t>
            </a:r>
            <a:r>
              <a:rPr lang="en-US" sz="600" spc="10" dirty="0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lang="en-US" sz="600" spc="-20" dirty="0">
                <a:solidFill>
                  <a:srgbClr val="0000DC"/>
                </a:solidFill>
                <a:latin typeface="Century Gothic"/>
                <a:cs typeface="Century Gothic"/>
              </a:rPr>
              <a:t>2026</a:t>
            </a:r>
            <a:endParaRPr lang="en-US" sz="600" dirty="0">
              <a:latin typeface="Century Gothic"/>
              <a:cs typeface="Century Gothic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dirty="0"/>
              <a:t>6</a:t>
            </a:fld>
            <a:r>
              <a:rPr spc="5" dirty="0"/>
              <a:t> </a:t>
            </a:r>
            <a:r>
              <a:rPr dirty="0"/>
              <a:t>/</a:t>
            </a:r>
            <a:r>
              <a:rPr spc="10" dirty="0"/>
              <a:t> </a:t>
            </a:r>
            <a:r>
              <a:rPr spc="-25" dirty="0"/>
              <a:t>11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76E401E-B1FC-7BAE-C493-01A64CE4565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5546" y="421786"/>
            <a:ext cx="1971058" cy="2057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10FBC1C-BD25-9D75-A4A9-9E07F8137918}"/>
              </a:ext>
            </a:extLst>
          </p:cNvPr>
          <p:cNvSpPr txBox="1"/>
          <p:nvPr/>
        </p:nvSpPr>
        <p:spPr>
          <a:xfrm>
            <a:off x="3405285" y="2354938"/>
            <a:ext cx="2241319" cy="200055"/>
          </a:xfrm>
          <a:prstGeom prst="rect">
            <a:avLst/>
          </a:prstGeom>
          <a:noFill/>
          <a:ln>
            <a:solidFill>
              <a:schemeClr val="accent3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IN" sz="700" b="1" dirty="0"/>
              <a:t>Core Principle:</a:t>
            </a:r>
            <a:r>
              <a:rPr lang="en-IN" sz="700" dirty="0"/>
              <a:t> Security first, performance second.</a:t>
            </a: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9293" y="-20564"/>
            <a:ext cx="2574290" cy="46291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390"/>
              </a:spcBef>
            </a:pPr>
            <a:r>
              <a:rPr sz="600" b="1" dirty="0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AIORI</a:t>
            </a:r>
            <a:r>
              <a:rPr sz="600" b="1" spc="40" dirty="0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 </a:t>
            </a:r>
            <a:r>
              <a:rPr sz="600" b="1" spc="-50" dirty="0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3</a:t>
            </a:r>
            <a:endParaRPr sz="6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6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</a:pPr>
            <a:r>
              <a:rPr sz="1400" b="1" spc="-20" dirty="0">
                <a:solidFill>
                  <a:srgbClr val="0000DC"/>
                </a:solidFill>
                <a:latin typeface="Century Gothic"/>
                <a:cs typeface="Century Gothic"/>
              </a:rPr>
              <a:t>Solution </a:t>
            </a:r>
            <a:r>
              <a:rPr sz="1400" b="1" spc="-85" dirty="0">
                <a:solidFill>
                  <a:srgbClr val="0000DC"/>
                </a:solidFill>
                <a:latin typeface="Century Gothic"/>
                <a:cs typeface="Century Gothic"/>
              </a:rPr>
              <a:t>Architecture</a:t>
            </a:r>
            <a:r>
              <a:rPr sz="1400" b="1" spc="-15" dirty="0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sz="1400" b="1" spc="204" dirty="0">
                <a:solidFill>
                  <a:srgbClr val="0000DC"/>
                </a:solidFill>
                <a:latin typeface="Century Gothic"/>
                <a:cs typeface="Century Gothic"/>
              </a:rPr>
              <a:t>&amp;</a:t>
            </a:r>
            <a:r>
              <a:rPr sz="1400" b="1" spc="-15" dirty="0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sz="1400" b="1" spc="-10" dirty="0">
                <a:solidFill>
                  <a:srgbClr val="0000DC"/>
                </a:solidFill>
                <a:latin typeface="Century Gothic"/>
                <a:cs typeface="Century Gothic"/>
              </a:rPr>
              <a:t>Design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47016" y="16997"/>
            <a:ext cx="133096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dirty="0">
                <a:solidFill>
                  <a:srgbClr val="0000DC"/>
                </a:solidFill>
                <a:latin typeface="Century Gothic"/>
                <a:cs typeface="Century Gothic"/>
                <a:hlinkClick r:id="rId4" action="ppaction://hlinksldjump"/>
              </a:rPr>
              <a:t>Architecture</a:t>
            </a:r>
            <a:r>
              <a:rPr sz="600" b="1" spc="15" dirty="0">
                <a:solidFill>
                  <a:srgbClr val="0000DC"/>
                </a:solidFill>
                <a:latin typeface="Century Gothic"/>
                <a:cs typeface="Century Gothic"/>
                <a:hlinkClick r:id="rId4" action="ppaction://hlinksldjump"/>
              </a:rPr>
              <a:t> </a:t>
            </a:r>
            <a:r>
              <a:rPr sz="600" b="1" dirty="0">
                <a:solidFill>
                  <a:srgbClr val="0000DC"/>
                </a:solidFill>
                <a:latin typeface="Century Gothic"/>
                <a:cs typeface="Century Gothic"/>
                <a:hlinkClick r:id="rId4" action="ppaction://hlinksldjump"/>
              </a:rPr>
              <a:t>Design</a:t>
            </a:r>
            <a:r>
              <a:rPr sz="600" b="1" spc="15" dirty="0">
                <a:solidFill>
                  <a:srgbClr val="0000DC"/>
                </a:solidFill>
                <a:latin typeface="Century Gothic"/>
                <a:cs typeface="Century Gothic"/>
                <a:hlinkClick r:id="rId4" action="ppaction://hlinksldjump"/>
              </a:rPr>
              <a:t> </a:t>
            </a:r>
            <a:r>
              <a:rPr sz="600" b="1" dirty="0">
                <a:solidFill>
                  <a:srgbClr val="0000DC"/>
                </a:solidFill>
                <a:latin typeface="Century Gothic"/>
                <a:cs typeface="Century Gothic"/>
                <a:hlinkClick r:id="rId4" action="ppaction://hlinksldjump"/>
              </a:rPr>
              <a:t>(UML</a:t>
            </a:r>
            <a:r>
              <a:rPr sz="600" b="1" spc="15" dirty="0">
                <a:solidFill>
                  <a:srgbClr val="0000DC"/>
                </a:solidFill>
                <a:latin typeface="Century Gothic"/>
                <a:cs typeface="Century Gothic"/>
                <a:hlinkClick r:id="rId4" action="ppaction://hlinksldjump"/>
              </a:rPr>
              <a:t> </a:t>
            </a:r>
            <a:r>
              <a:rPr sz="600" b="1" spc="-10" dirty="0">
                <a:solidFill>
                  <a:srgbClr val="0000DC"/>
                </a:solidFill>
                <a:latin typeface="Century Gothic"/>
                <a:cs typeface="Century Gothic"/>
                <a:hlinkClick r:id="rId4" action="ppaction://hlinksldjump"/>
              </a:rPr>
              <a:t>Diagram)</a:t>
            </a:r>
            <a:endParaRPr sz="600">
              <a:latin typeface="Century Gothic"/>
              <a:cs typeface="Century Gothic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745835" y="856704"/>
            <a:ext cx="2268855" cy="1704339"/>
            <a:chOff x="1745835" y="856704"/>
            <a:chExt cx="2268855" cy="1704339"/>
          </a:xfrm>
        </p:grpSpPr>
        <p:sp>
          <p:nvSpPr>
            <p:cNvPr id="6" name="object 6"/>
            <p:cNvSpPr/>
            <p:nvPr/>
          </p:nvSpPr>
          <p:spPr>
            <a:xfrm>
              <a:off x="1751457" y="862326"/>
              <a:ext cx="2257425" cy="1692910"/>
            </a:xfrm>
            <a:custGeom>
              <a:avLst/>
              <a:gdLst/>
              <a:ahLst/>
              <a:cxnLst/>
              <a:rect l="l" t="t" r="r" b="b"/>
              <a:pathLst>
                <a:path w="2257425" h="1692910">
                  <a:moveTo>
                    <a:pt x="0" y="1692850"/>
                  </a:moveTo>
                  <a:lnTo>
                    <a:pt x="0" y="0"/>
                  </a:lnTo>
                  <a:lnTo>
                    <a:pt x="2257133" y="0"/>
                  </a:lnTo>
                  <a:lnTo>
                    <a:pt x="2257133" y="1692850"/>
                  </a:lnTo>
                  <a:lnTo>
                    <a:pt x="0" y="169285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751457" y="862326"/>
              <a:ext cx="2257425" cy="1692910"/>
            </a:xfrm>
            <a:custGeom>
              <a:avLst/>
              <a:gdLst/>
              <a:ahLst/>
              <a:cxnLst/>
              <a:rect l="l" t="t" r="r" b="b"/>
              <a:pathLst>
                <a:path w="2257425" h="1692910">
                  <a:moveTo>
                    <a:pt x="0" y="1692850"/>
                  </a:moveTo>
                  <a:lnTo>
                    <a:pt x="2257133" y="0"/>
                  </a:lnTo>
                </a:path>
                <a:path w="2257425" h="1692910">
                  <a:moveTo>
                    <a:pt x="2257133" y="1692850"/>
                  </a:moveTo>
                  <a:lnTo>
                    <a:pt x="0" y="0"/>
                  </a:lnTo>
                </a:path>
                <a:path w="2257425" h="1692910">
                  <a:moveTo>
                    <a:pt x="1128566" y="1692850"/>
                  </a:moveTo>
                  <a:lnTo>
                    <a:pt x="1128566" y="0"/>
                  </a:lnTo>
                </a:path>
                <a:path w="2257425" h="1692910">
                  <a:moveTo>
                    <a:pt x="0" y="846425"/>
                  </a:moveTo>
                  <a:lnTo>
                    <a:pt x="2257133" y="846425"/>
                  </a:lnTo>
                </a:path>
              </a:pathLst>
            </a:custGeom>
            <a:ln w="5621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751457" y="862326"/>
              <a:ext cx="2257425" cy="1692910"/>
            </a:xfrm>
            <a:custGeom>
              <a:avLst/>
              <a:gdLst/>
              <a:ahLst/>
              <a:cxnLst/>
              <a:rect l="l" t="t" r="r" b="b"/>
              <a:pathLst>
                <a:path w="2257425" h="1692910">
                  <a:moveTo>
                    <a:pt x="0" y="1692850"/>
                  </a:moveTo>
                  <a:lnTo>
                    <a:pt x="0" y="0"/>
                  </a:lnTo>
                  <a:lnTo>
                    <a:pt x="2257133" y="0"/>
                  </a:lnTo>
                  <a:lnTo>
                    <a:pt x="2257133" y="1692850"/>
                  </a:lnTo>
                  <a:lnTo>
                    <a:pt x="0" y="1692850"/>
                  </a:lnTo>
                  <a:close/>
                </a:path>
              </a:pathLst>
            </a:custGeom>
            <a:ln w="112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338490" y="1359802"/>
            <a:ext cx="1083310" cy="567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550" spc="-10" dirty="0">
                <a:latin typeface="Arial Narrow"/>
                <a:cs typeface="Arial Narrow"/>
              </a:rPr>
              <a:t>Image</a:t>
            </a:r>
            <a:endParaRPr sz="3550">
              <a:latin typeface="Arial Narrow"/>
              <a:cs typeface="Arial Narro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40002" y="2891537"/>
            <a:ext cx="3494976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40" dirty="0">
                <a:solidFill>
                  <a:srgbClr val="0000DC"/>
                </a:solidFill>
                <a:latin typeface="Century Gothic"/>
                <a:cs typeface="Century Gothic"/>
              </a:rPr>
              <a:t>Figure:</a:t>
            </a:r>
            <a:r>
              <a:rPr sz="1000" dirty="0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lang="en-IN" sz="1000" spc="-60" dirty="0">
                <a:latin typeface="Century Gothic"/>
                <a:cs typeface="Century Gothic"/>
              </a:rPr>
              <a:t>System</a:t>
            </a:r>
            <a:r>
              <a:rPr lang="en-IN" sz="1000" dirty="0">
                <a:latin typeface="Century Gothic"/>
                <a:cs typeface="Century Gothic"/>
              </a:rPr>
              <a:t> </a:t>
            </a:r>
            <a:r>
              <a:rPr lang="en-IN" sz="1000" spc="-80" dirty="0">
                <a:latin typeface="Century Gothic"/>
                <a:cs typeface="Century Gothic"/>
              </a:rPr>
              <a:t>Architecture</a:t>
            </a:r>
            <a:r>
              <a:rPr lang="en-IN" sz="1000" dirty="0">
                <a:latin typeface="Century Gothic"/>
                <a:cs typeface="Century Gothic"/>
              </a:rPr>
              <a:t> </a:t>
            </a:r>
            <a:r>
              <a:rPr lang="en-IN" sz="1000" spc="-25" dirty="0">
                <a:latin typeface="Century Gothic"/>
                <a:cs typeface="Century Gothic"/>
              </a:rPr>
              <a:t>UML</a:t>
            </a:r>
            <a:r>
              <a:rPr lang="en-IN" sz="1000" dirty="0">
                <a:latin typeface="Century Gothic"/>
                <a:cs typeface="Century Gothic"/>
              </a:rPr>
              <a:t> </a:t>
            </a:r>
            <a:r>
              <a:rPr lang="en-IN" sz="1000" spc="-75" dirty="0">
                <a:latin typeface="Century Gothic"/>
                <a:cs typeface="Century Gothic"/>
              </a:rPr>
              <a:t>Diagram</a:t>
            </a:r>
            <a:endParaRPr sz="1000" dirty="0">
              <a:latin typeface="Century Gothic"/>
              <a:cs typeface="Century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9293" y="3050083"/>
            <a:ext cx="1608455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15"/>
              </a:lnSpc>
            </a:pPr>
            <a:r>
              <a:rPr lang="en-US" sz="600" i="1" spc="-60" baseline="-7936" dirty="0">
                <a:solidFill>
                  <a:srgbClr val="0000DC"/>
                </a:solidFill>
                <a:latin typeface="Century Gothic"/>
                <a:cs typeface="Arial Narrow"/>
              </a:rPr>
              <a:t>Vishal Raj</a:t>
            </a:r>
            <a:r>
              <a:rPr lang="en-US" sz="2100" i="1" baseline="-7936" dirty="0">
                <a:solidFill>
                  <a:srgbClr val="0000DC"/>
                </a:solidFill>
                <a:latin typeface="Arial Narrow"/>
                <a:cs typeface="Arial Narrow"/>
              </a:rPr>
              <a:t>·</a:t>
            </a:r>
            <a:r>
              <a:rPr lang="en-US" sz="2100" i="1" spc="-202" baseline="-7936" dirty="0">
                <a:solidFill>
                  <a:srgbClr val="0000DC"/>
                </a:solidFill>
                <a:latin typeface="Arial Narrow"/>
                <a:cs typeface="Arial Narrow"/>
              </a:rPr>
              <a:t> </a:t>
            </a:r>
            <a:r>
              <a:rPr lang="en-US" sz="800" i="1" spc="-45" baseline="-7936" dirty="0">
                <a:solidFill>
                  <a:srgbClr val="0000DC"/>
                </a:solidFill>
                <a:latin typeface="Arial Narrow"/>
                <a:cs typeface="Arial Narrow"/>
              </a:rPr>
              <a:t>A3</a:t>
            </a:r>
            <a:r>
              <a:rPr lang="en-US" sz="600" b="1" i="1" spc="10" baseline="-7936" dirty="0">
                <a:solidFill>
                  <a:srgbClr val="0000DC"/>
                </a:solidFill>
                <a:latin typeface="Century Gothic"/>
                <a:cs typeface="Arial Narrow"/>
              </a:rPr>
              <a:t>-PS006-TC385</a:t>
            </a:r>
            <a:r>
              <a:rPr lang="en-US" sz="2100" i="1" baseline="-7936" dirty="0">
                <a:solidFill>
                  <a:srgbClr val="0000DC"/>
                </a:solidFill>
                <a:latin typeface="Arial Narrow"/>
                <a:cs typeface="Arial Narrow"/>
              </a:rPr>
              <a:t>·</a:t>
            </a:r>
            <a:r>
              <a:rPr lang="en-US" sz="2100" i="1" spc="-202" baseline="-7936" dirty="0">
                <a:solidFill>
                  <a:srgbClr val="0000DC"/>
                </a:solidFill>
                <a:latin typeface="Arial Narrow"/>
                <a:cs typeface="Arial Narrow"/>
              </a:rPr>
              <a:t> </a:t>
            </a:r>
            <a:r>
              <a:rPr lang="en-US" sz="600" spc="-20" dirty="0">
                <a:solidFill>
                  <a:srgbClr val="0000DC"/>
                </a:solidFill>
                <a:latin typeface="Century Gothic"/>
                <a:cs typeface="Century Gothic"/>
              </a:rPr>
              <a:t>October</a:t>
            </a:r>
            <a:r>
              <a:rPr lang="en-US" sz="600" spc="10" dirty="0">
                <a:solidFill>
                  <a:srgbClr val="0000DC"/>
                </a:solidFill>
                <a:latin typeface="Century Gothic"/>
                <a:cs typeface="Century Gothic"/>
              </a:rPr>
              <a:t> 14</a:t>
            </a:r>
            <a:r>
              <a:rPr lang="en-US" sz="600" dirty="0">
                <a:solidFill>
                  <a:srgbClr val="0000DC"/>
                </a:solidFill>
                <a:latin typeface="Century Gothic"/>
                <a:cs typeface="Century Gothic"/>
              </a:rPr>
              <a:t>,</a:t>
            </a:r>
            <a:r>
              <a:rPr lang="en-US" sz="600" spc="10" dirty="0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lang="en-US" sz="600" spc="-20" dirty="0">
                <a:solidFill>
                  <a:srgbClr val="0000DC"/>
                </a:solidFill>
                <a:latin typeface="Century Gothic"/>
                <a:cs typeface="Century Gothic"/>
              </a:rPr>
              <a:t>2026</a:t>
            </a:r>
            <a:endParaRPr lang="en-US" sz="600" dirty="0">
              <a:latin typeface="Century Gothic"/>
              <a:cs typeface="Century Gothic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dirty="0"/>
              <a:t>7</a:t>
            </a:fld>
            <a:r>
              <a:rPr spc="5" dirty="0"/>
              <a:t> </a:t>
            </a:r>
            <a:r>
              <a:rPr dirty="0"/>
              <a:t>/</a:t>
            </a:r>
            <a:r>
              <a:rPr spc="10" dirty="0"/>
              <a:t> </a:t>
            </a:r>
            <a:r>
              <a:rPr spc="-25" dirty="0"/>
              <a:t>11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D8FA218-54AB-12EB-DF4C-1ACAC41DF3F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0" y="470137"/>
            <a:ext cx="4790478" cy="2424223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08224" y="16997"/>
            <a:ext cx="116903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50850" algn="l"/>
              </a:tabLst>
            </a:pPr>
            <a:r>
              <a:rPr sz="600" b="1" dirty="0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AIORI</a:t>
            </a:r>
            <a:r>
              <a:rPr sz="600" b="1" spc="40" dirty="0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 </a:t>
            </a:r>
            <a:r>
              <a:rPr sz="600" b="1" spc="-50" dirty="0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3</a:t>
            </a:r>
            <a:r>
              <a:rPr sz="600" b="1" dirty="0">
                <a:solidFill>
                  <a:srgbClr val="0000DC"/>
                </a:solidFill>
                <a:latin typeface="Century Gothic"/>
                <a:cs typeface="Century Gothic"/>
              </a:rPr>
              <a:t>	</a:t>
            </a:r>
            <a:r>
              <a:rPr sz="600" b="1" spc="-10" dirty="0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Data</a:t>
            </a:r>
            <a:r>
              <a:rPr sz="600" b="1" spc="20" dirty="0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 </a:t>
            </a:r>
            <a:r>
              <a:rPr sz="600" b="1" dirty="0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Flow</a:t>
            </a:r>
            <a:r>
              <a:rPr sz="600" b="1" spc="20" dirty="0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 </a:t>
            </a:r>
            <a:r>
              <a:rPr sz="600" b="1" spc="-10" dirty="0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Diagram</a:t>
            </a:r>
            <a:endParaRPr sz="600">
              <a:latin typeface="Century Gothic"/>
              <a:cs typeface="Century Gothic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39293" y="106208"/>
            <a:ext cx="4951730" cy="551369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spc="-114" dirty="0"/>
              <a:t>Data</a:t>
            </a:r>
            <a:r>
              <a:rPr spc="-30" dirty="0"/>
              <a:t> </a:t>
            </a:r>
            <a:r>
              <a:rPr spc="-20" dirty="0"/>
              <a:t>Flow</a:t>
            </a:r>
            <a:r>
              <a:rPr spc="-30" dirty="0"/>
              <a:t> </a:t>
            </a:r>
            <a:r>
              <a:rPr spc="-10" dirty="0"/>
              <a:t>Diagram</a:t>
            </a:r>
          </a:p>
          <a:p>
            <a:pPr marL="12700" marR="5080">
              <a:lnSpc>
                <a:spcPct val="102699"/>
              </a:lnSpc>
              <a:spcBef>
                <a:spcPts val="509"/>
              </a:spcBef>
            </a:pPr>
            <a:endParaRPr sz="1100" dirty="0"/>
          </a:p>
        </p:txBody>
      </p:sp>
      <p:grpSp>
        <p:nvGrpSpPr>
          <p:cNvPr id="4" name="object 4"/>
          <p:cNvGrpSpPr/>
          <p:nvPr/>
        </p:nvGrpSpPr>
        <p:grpSpPr>
          <a:xfrm>
            <a:off x="1745835" y="1023900"/>
            <a:ext cx="2268855" cy="1704339"/>
            <a:chOff x="1745835" y="1023900"/>
            <a:chExt cx="2268855" cy="1704339"/>
          </a:xfrm>
        </p:grpSpPr>
        <p:sp>
          <p:nvSpPr>
            <p:cNvPr id="5" name="object 5"/>
            <p:cNvSpPr/>
            <p:nvPr/>
          </p:nvSpPr>
          <p:spPr>
            <a:xfrm>
              <a:off x="1751457" y="1029521"/>
              <a:ext cx="2257425" cy="1692910"/>
            </a:xfrm>
            <a:custGeom>
              <a:avLst/>
              <a:gdLst/>
              <a:ahLst/>
              <a:cxnLst/>
              <a:rect l="l" t="t" r="r" b="b"/>
              <a:pathLst>
                <a:path w="2257425" h="1692910">
                  <a:moveTo>
                    <a:pt x="0" y="1692850"/>
                  </a:moveTo>
                  <a:lnTo>
                    <a:pt x="0" y="0"/>
                  </a:lnTo>
                  <a:lnTo>
                    <a:pt x="2257133" y="0"/>
                  </a:lnTo>
                  <a:lnTo>
                    <a:pt x="2257133" y="1692850"/>
                  </a:lnTo>
                  <a:lnTo>
                    <a:pt x="0" y="169285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51457" y="1029521"/>
              <a:ext cx="2257425" cy="1692910"/>
            </a:xfrm>
            <a:custGeom>
              <a:avLst/>
              <a:gdLst/>
              <a:ahLst/>
              <a:cxnLst/>
              <a:rect l="l" t="t" r="r" b="b"/>
              <a:pathLst>
                <a:path w="2257425" h="1692910">
                  <a:moveTo>
                    <a:pt x="0" y="1692850"/>
                  </a:moveTo>
                  <a:lnTo>
                    <a:pt x="2257133" y="0"/>
                  </a:lnTo>
                </a:path>
                <a:path w="2257425" h="1692910">
                  <a:moveTo>
                    <a:pt x="2257133" y="1692850"/>
                  </a:moveTo>
                  <a:lnTo>
                    <a:pt x="0" y="0"/>
                  </a:lnTo>
                </a:path>
                <a:path w="2257425" h="1692910">
                  <a:moveTo>
                    <a:pt x="1128566" y="1692850"/>
                  </a:moveTo>
                  <a:lnTo>
                    <a:pt x="1128566" y="0"/>
                  </a:lnTo>
                </a:path>
                <a:path w="2257425" h="1692910">
                  <a:moveTo>
                    <a:pt x="0" y="846425"/>
                  </a:moveTo>
                  <a:lnTo>
                    <a:pt x="2257133" y="846425"/>
                  </a:lnTo>
                </a:path>
              </a:pathLst>
            </a:custGeom>
            <a:ln w="5621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751457" y="1029521"/>
              <a:ext cx="2257425" cy="1692910"/>
            </a:xfrm>
            <a:custGeom>
              <a:avLst/>
              <a:gdLst/>
              <a:ahLst/>
              <a:cxnLst/>
              <a:rect l="l" t="t" r="r" b="b"/>
              <a:pathLst>
                <a:path w="2257425" h="1692910">
                  <a:moveTo>
                    <a:pt x="0" y="1692850"/>
                  </a:moveTo>
                  <a:lnTo>
                    <a:pt x="0" y="0"/>
                  </a:lnTo>
                  <a:lnTo>
                    <a:pt x="2257133" y="0"/>
                  </a:lnTo>
                  <a:lnTo>
                    <a:pt x="2257133" y="1692850"/>
                  </a:lnTo>
                  <a:lnTo>
                    <a:pt x="0" y="1692850"/>
                  </a:lnTo>
                  <a:close/>
                </a:path>
              </a:pathLst>
            </a:custGeom>
            <a:ln w="112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338490" y="1526998"/>
            <a:ext cx="1083310" cy="567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550" spc="-10" dirty="0">
                <a:latin typeface="Arial Narrow"/>
                <a:cs typeface="Arial Narrow"/>
              </a:rPr>
              <a:t>Image</a:t>
            </a:r>
            <a:endParaRPr sz="3550">
              <a:latin typeface="Arial Narrow"/>
              <a:cs typeface="Arial Narro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79218" y="2843789"/>
            <a:ext cx="18021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40" dirty="0">
                <a:solidFill>
                  <a:srgbClr val="0000DC"/>
                </a:solidFill>
                <a:latin typeface="Century Gothic"/>
                <a:cs typeface="Century Gothic"/>
              </a:rPr>
              <a:t>Figure:</a:t>
            </a:r>
            <a:r>
              <a:rPr sz="1000" dirty="0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sz="1000" spc="-130" dirty="0">
                <a:latin typeface="Century Gothic"/>
                <a:cs typeface="Century Gothic"/>
              </a:rPr>
              <a:t>Data</a:t>
            </a:r>
            <a:r>
              <a:rPr sz="1000" dirty="0">
                <a:latin typeface="Century Gothic"/>
                <a:cs typeface="Century Gothic"/>
              </a:rPr>
              <a:t> </a:t>
            </a:r>
            <a:r>
              <a:rPr sz="1000" spc="-25" dirty="0">
                <a:latin typeface="Century Gothic"/>
                <a:cs typeface="Century Gothic"/>
              </a:rPr>
              <a:t>Flow</a:t>
            </a:r>
            <a:r>
              <a:rPr sz="1000" dirty="0">
                <a:latin typeface="Century Gothic"/>
                <a:cs typeface="Century Gothic"/>
              </a:rPr>
              <a:t> </a:t>
            </a:r>
            <a:r>
              <a:rPr sz="1000" spc="-105" dirty="0">
                <a:latin typeface="Century Gothic"/>
                <a:cs typeface="Century Gothic"/>
              </a:rPr>
              <a:t>Diagram</a:t>
            </a:r>
            <a:r>
              <a:rPr sz="1000" dirty="0">
                <a:latin typeface="Century Gothic"/>
                <a:cs typeface="Century Gothic"/>
              </a:rPr>
              <a:t> </a:t>
            </a:r>
            <a:r>
              <a:rPr sz="1000" spc="-55" dirty="0">
                <a:latin typeface="Century Gothic"/>
                <a:cs typeface="Century Gothic"/>
              </a:rPr>
              <a:t>(DFD)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9293" y="3050083"/>
            <a:ext cx="1608455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15"/>
              </a:lnSpc>
            </a:pPr>
            <a:r>
              <a:rPr lang="en-US" sz="600" i="1" spc="-60" baseline="-7936" dirty="0">
                <a:solidFill>
                  <a:srgbClr val="0000DC"/>
                </a:solidFill>
                <a:latin typeface="Century Gothic"/>
                <a:cs typeface="Arial Narrow"/>
              </a:rPr>
              <a:t>Vishal Raj</a:t>
            </a:r>
            <a:r>
              <a:rPr lang="en-US" sz="2100" i="1" baseline="-7936" dirty="0">
                <a:solidFill>
                  <a:srgbClr val="0000DC"/>
                </a:solidFill>
                <a:latin typeface="Arial Narrow"/>
                <a:cs typeface="Arial Narrow"/>
              </a:rPr>
              <a:t>·</a:t>
            </a:r>
            <a:r>
              <a:rPr lang="en-US" sz="2100" i="1" spc="-202" baseline="-7936" dirty="0">
                <a:solidFill>
                  <a:srgbClr val="0000DC"/>
                </a:solidFill>
                <a:latin typeface="Arial Narrow"/>
                <a:cs typeface="Arial Narrow"/>
              </a:rPr>
              <a:t> </a:t>
            </a:r>
            <a:r>
              <a:rPr lang="en-US" sz="800" i="1" spc="-45" baseline="-7936" dirty="0">
                <a:solidFill>
                  <a:srgbClr val="0000DC"/>
                </a:solidFill>
                <a:latin typeface="Arial Narrow"/>
                <a:cs typeface="Arial Narrow"/>
              </a:rPr>
              <a:t>A3</a:t>
            </a:r>
            <a:r>
              <a:rPr lang="en-US" sz="600" b="1" i="1" spc="10" baseline="-7936" dirty="0">
                <a:solidFill>
                  <a:srgbClr val="0000DC"/>
                </a:solidFill>
                <a:latin typeface="Century Gothic"/>
                <a:cs typeface="Arial Narrow"/>
              </a:rPr>
              <a:t>-PS006-TC385</a:t>
            </a:r>
            <a:r>
              <a:rPr lang="en-US" sz="2100" i="1" baseline="-7936" dirty="0">
                <a:solidFill>
                  <a:srgbClr val="0000DC"/>
                </a:solidFill>
                <a:latin typeface="Arial Narrow"/>
                <a:cs typeface="Arial Narrow"/>
              </a:rPr>
              <a:t>·</a:t>
            </a:r>
            <a:r>
              <a:rPr lang="en-US" sz="2100" i="1" spc="-202" baseline="-7936" dirty="0">
                <a:solidFill>
                  <a:srgbClr val="0000DC"/>
                </a:solidFill>
                <a:latin typeface="Arial Narrow"/>
                <a:cs typeface="Arial Narrow"/>
              </a:rPr>
              <a:t> </a:t>
            </a:r>
            <a:r>
              <a:rPr lang="en-US" sz="600" spc="-20" dirty="0">
                <a:solidFill>
                  <a:srgbClr val="0000DC"/>
                </a:solidFill>
                <a:latin typeface="Century Gothic"/>
                <a:cs typeface="Century Gothic"/>
              </a:rPr>
              <a:t>October</a:t>
            </a:r>
            <a:r>
              <a:rPr lang="en-US" sz="600" spc="10" dirty="0">
                <a:solidFill>
                  <a:srgbClr val="0000DC"/>
                </a:solidFill>
                <a:latin typeface="Century Gothic"/>
                <a:cs typeface="Century Gothic"/>
              </a:rPr>
              <a:t> 14</a:t>
            </a:r>
            <a:r>
              <a:rPr lang="en-US" sz="600" dirty="0">
                <a:solidFill>
                  <a:srgbClr val="0000DC"/>
                </a:solidFill>
                <a:latin typeface="Century Gothic"/>
                <a:cs typeface="Century Gothic"/>
              </a:rPr>
              <a:t>,</a:t>
            </a:r>
            <a:r>
              <a:rPr lang="en-US" sz="600" spc="10" dirty="0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lang="en-US" sz="600" spc="-20" dirty="0">
                <a:solidFill>
                  <a:srgbClr val="0000DC"/>
                </a:solidFill>
                <a:latin typeface="Century Gothic"/>
                <a:cs typeface="Century Gothic"/>
              </a:rPr>
              <a:t>2026</a:t>
            </a:r>
            <a:endParaRPr lang="en-US" sz="600" dirty="0">
              <a:latin typeface="Century Gothic"/>
              <a:cs typeface="Century Gothic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dirty="0"/>
              <a:t>8</a:t>
            </a:fld>
            <a:r>
              <a:rPr spc="5" dirty="0"/>
              <a:t> </a:t>
            </a:r>
            <a:r>
              <a:rPr dirty="0"/>
              <a:t>/</a:t>
            </a:r>
            <a:r>
              <a:rPr spc="10" dirty="0"/>
              <a:t> </a:t>
            </a:r>
            <a:r>
              <a:rPr spc="-25" dirty="0"/>
              <a:t>11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FBAFBF7-D037-275F-EB2B-353D4976576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700" y="473553"/>
            <a:ext cx="4800600" cy="2321370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08224" y="16997"/>
            <a:ext cx="3048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dirty="0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AIORI</a:t>
            </a:r>
            <a:r>
              <a:rPr sz="600" b="1" spc="40" dirty="0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 </a:t>
            </a:r>
            <a:r>
              <a:rPr sz="600" b="1" spc="-50" dirty="0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3</a:t>
            </a:r>
            <a:endParaRPr sz="6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47016" y="16997"/>
            <a:ext cx="83058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dirty="0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Deployment</a:t>
            </a:r>
            <a:r>
              <a:rPr sz="600" b="1" spc="-35" dirty="0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 </a:t>
            </a:r>
            <a:r>
              <a:rPr sz="600" b="1" spc="-10" dirty="0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Timeline</a:t>
            </a:r>
            <a:endParaRPr sz="6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9293" y="198244"/>
            <a:ext cx="170497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-95" dirty="0">
                <a:solidFill>
                  <a:srgbClr val="0000DC"/>
                </a:solidFill>
                <a:latin typeface="Century Gothic"/>
                <a:cs typeface="Century Gothic"/>
              </a:rPr>
              <a:t>Deployment</a:t>
            </a:r>
            <a:r>
              <a:rPr sz="1400" b="1" spc="-20" dirty="0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sz="1400" b="1" spc="-10" dirty="0">
                <a:solidFill>
                  <a:srgbClr val="0000DC"/>
                </a:solidFill>
                <a:latin typeface="Century Gothic"/>
                <a:cs typeface="Century Gothic"/>
              </a:rPr>
              <a:t>Timeline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0772" y="666531"/>
            <a:ext cx="2875877" cy="162480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r>
              <a:rPr lang="en-IN" sz="800" b="1" dirty="0"/>
              <a:t>Phase 1 — Requirements &amp; Policy Design</a:t>
            </a:r>
            <a:endParaRPr lang="en-IN" sz="800" dirty="0"/>
          </a:p>
          <a:p>
            <a:pPr lvl="0"/>
            <a:r>
              <a:rPr lang="en-IN" sz="800" dirty="0"/>
              <a:t>Define security constraints and failover rules.</a:t>
            </a:r>
          </a:p>
          <a:p>
            <a:pPr lvl="0"/>
            <a:r>
              <a:rPr lang="en-IN" sz="800" dirty="0"/>
              <a:t>Establish test scenarios.</a:t>
            </a:r>
          </a:p>
          <a:p>
            <a:pPr lvl="0"/>
            <a:r>
              <a:rPr lang="en-IN" sz="800" b="1" dirty="0"/>
              <a:t>Deliverable:</a:t>
            </a:r>
            <a:r>
              <a:rPr lang="en-IN" sz="800" dirty="0"/>
              <a:t> Policy specification.</a:t>
            </a:r>
          </a:p>
          <a:p>
            <a:r>
              <a:rPr lang="en-IN" sz="800" b="1" dirty="0"/>
              <a:t>Phase 2 — Service Monitoring</a:t>
            </a:r>
            <a:endParaRPr lang="en-IN" sz="800" dirty="0"/>
          </a:p>
          <a:p>
            <a:pPr lvl="0"/>
            <a:r>
              <a:rPr lang="en-IN" sz="800" dirty="0"/>
              <a:t>Set up primary and backup service instances.</a:t>
            </a:r>
          </a:p>
          <a:p>
            <a:pPr lvl="0"/>
            <a:r>
              <a:rPr lang="en-IN" sz="800" dirty="0"/>
              <a:t>Implement health checks and failure detection.</a:t>
            </a:r>
          </a:p>
          <a:p>
            <a:pPr lvl="0"/>
            <a:r>
              <a:rPr lang="en-IN" sz="800" b="1" dirty="0"/>
              <a:t>Deliverable:</a:t>
            </a:r>
            <a:r>
              <a:rPr lang="en-IN" sz="800" dirty="0"/>
              <a:t> Working monitoring module.</a:t>
            </a:r>
          </a:p>
          <a:p>
            <a:r>
              <a:rPr lang="en-IN" sz="800" b="1" dirty="0"/>
              <a:t>Phase 3 — Policy Engine Integration</a:t>
            </a:r>
            <a:endParaRPr lang="en-IN" sz="800" dirty="0"/>
          </a:p>
          <a:p>
            <a:pPr lvl="0"/>
            <a:r>
              <a:rPr lang="en-IN" sz="800" dirty="0"/>
              <a:t>Implement candidate validation and policy evaluation.</a:t>
            </a:r>
          </a:p>
          <a:p>
            <a:pPr lvl="0"/>
            <a:r>
              <a:rPr lang="en-IN" sz="800" dirty="0"/>
              <a:t>Handle approval and rejection decisions.</a:t>
            </a:r>
          </a:p>
          <a:p>
            <a:pPr lvl="0"/>
            <a:r>
              <a:rPr lang="en-IN" sz="800" b="1" dirty="0"/>
              <a:t>Deliverable:</a:t>
            </a:r>
            <a:r>
              <a:rPr lang="en-IN" sz="800" dirty="0"/>
              <a:t> Policy-based eligibility checks.</a:t>
            </a: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endParaRPr sz="800" dirty="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9293" y="3050083"/>
            <a:ext cx="1608455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15"/>
              </a:lnSpc>
            </a:pPr>
            <a:r>
              <a:rPr lang="en-US" sz="600" i="1" spc="-60" baseline="-7936" dirty="0">
                <a:solidFill>
                  <a:srgbClr val="0000DC"/>
                </a:solidFill>
                <a:latin typeface="Century Gothic"/>
                <a:cs typeface="Arial Narrow"/>
              </a:rPr>
              <a:t>Vishal Raj</a:t>
            </a:r>
            <a:r>
              <a:rPr lang="en-US" sz="2100" i="1" baseline="-7936" dirty="0">
                <a:solidFill>
                  <a:srgbClr val="0000DC"/>
                </a:solidFill>
                <a:latin typeface="Arial Narrow"/>
                <a:cs typeface="Arial Narrow"/>
              </a:rPr>
              <a:t>·</a:t>
            </a:r>
            <a:r>
              <a:rPr lang="en-US" sz="2100" i="1" spc="-202" baseline="-7936" dirty="0">
                <a:solidFill>
                  <a:srgbClr val="0000DC"/>
                </a:solidFill>
                <a:latin typeface="Arial Narrow"/>
                <a:cs typeface="Arial Narrow"/>
              </a:rPr>
              <a:t> </a:t>
            </a:r>
            <a:r>
              <a:rPr lang="en-US" sz="800" i="1" spc="-45" baseline="-7936" dirty="0">
                <a:solidFill>
                  <a:srgbClr val="0000DC"/>
                </a:solidFill>
                <a:latin typeface="Arial Narrow"/>
                <a:cs typeface="Arial Narrow"/>
              </a:rPr>
              <a:t>A3</a:t>
            </a:r>
            <a:r>
              <a:rPr lang="en-US" sz="600" b="1" i="1" spc="10" baseline="-7936" dirty="0">
                <a:solidFill>
                  <a:srgbClr val="0000DC"/>
                </a:solidFill>
                <a:latin typeface="Century Gothic"/>
                <a:cs typeface="Arial Narrow"/>
              </a:rPr>
              <a:t>-PS006-TC385</a:t>
            </a:r>
            <a:r>
              <a:rPr lang="en-US" sz="2100" i="1" baseline="-7936" dirty="0">
                <a:solidFill>
                  <a:srgbClr val="0000DC"/>
                </a:solidFill>
                <a:latin typeface="Arial Narrow"/>
                <a:cs typeface="Arial Narrow"/>
              </a:rPr>
              <a:t>·</a:t>
            </a:r>
            <a:r>
              <a:rPr lang="en-US" sz="2100" i="1" spc="-202" baseline="-7936" dirty="0">
                <a:solidFill>
                  <a:srgbClr val="0000DC"/>
                </a:solidFill>
                <a:latin typeface="Arial Narrow"/>
                <a:cs typeface="Arial Narrow"/>
              </a:rPr>
              <a:t> </a:t>
            </a:r>
            <a:r>
              <a:rPr lang="en-US" sz="600" spc="-20" dirty="0">
                <a:solidFill>
                  <a:srgbClr val="0000DC"/>
                </a:solidFill>
                <a:latin typeface="Century Gothic"/>
                <a:cs typeface="Century Gothic"/>
              </a:rPr>
              <a:t>October</a:t>
            </a:r>
            <a:r>
              <a:rPr lang="en-US" sz="600" spc="10" dirty="0">
                <a:solidFill>
                  <a:srgbClr val="0000DC"/>
                </a:solidFill>
                <a:latin typeface="Century Gothic"/>
                <a:cs typeface="Century Gothic"/>
              </a:rPr>
              <a:t> 14</a:t>
            </a:r>
            <a:r>
              <a:rPr lang="en-US" sz="600" dirty="0">
                <a:solidFill>
                  <a:srgbClr val="0000DC"/>
                </a:solidFill>
                <a:latin typeface="Century Gothic"/>
                <a:cs typeface="Century Gothic"/>
              </a:rPr>
              <a:t>,</a:t>
            </a:r>
            <a:r>
              <a:rPr lang="en-US" sz="600" spc="10" dirty="0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lang="en-US" sz="600" spc="-20" dirty="0">
                <a:solidFill>
                  <a:srgbClr val="0000DC"/>
                </a:solidFill>
                <a:latin typeface="Century Gothic"/>
                <a:cs typeface="Century Gothic"/>
              </a:rPr>
              <a:t>2026</a:t>
            </a:r>
            <a:endParaRPr lang="en-US" sz="600" dirty="0">
              <a:latin typeface="Century Gothic"/>
              <a:cs typeface="Century Gothic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dirty="0"/>
              <a:t>9</a:t>
            </a:fld>
            <a:r>
              <a:rPr spc="5" dirty="0"/>
              <a:t> </a:t>
            </a:r>
            <a:r>
              <a:rPr dirty="0"/>
              <a:t>/</a:t>
            </a:r>
            <a:r>
              <a:rPr spc="10" dirty="0"/>
              <a:t> </a:t>
            </a:r>
            <a:r>
              <a:rPr spc="-25" dirty="0"/>
              <a:t>11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26B5A4-B680-2B32-9043-EBDA7099E5C6}"/>
              </a:ext>
            </a:extLst>
          </p:cNvPr>
          <p:cNvSpPr txBox="1"/>
          <p:nvPr/>
        </p:nvSpPr>
        <p:spPr>
          <a:xfrm>
            <a:off x="2958621" y="555625"/>
            <a:ext cx="2807179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800" b="1" dirty="0"/>
              <a:t>Phase 4 — Failover Automation</a:t>
            </a:r>
            <a:endParaRPr lang="en-IN" sz="800" dirty="0"/>
          </a:p>
          <a:p>
            <a:pPr lvl="0"/>
            <a:r>
              <a:rPr lang="en-IN" sz="800" dirty="0"/>
              <a:t>Integrate the failover controller and traffic router.</a:t>
            </a:r>
          </a:p>
          <a:p>
            <a:pPr lvl="0"/>
            <a:r>
              <a:rPr lang="en-IN" sz="800" dirty="0"/>
              <a:t>Execute authorized routing changes.</a:t>
            </a:r>
          </a:p>
          <a:p>
            <a:pPr lvl="0"/>
            <a:r>
              <a:rPr lang="en-IN" sz="800" b="1" dirty="0"/>
              <a:t>Deliverable:</a:t>
            </a:r>
            <a:r>
              <a:rPr lang="en-IN" sz="800" dirty="0"/>
              <a:t> Automated failover prototype.</a:t>
            </a:r>
          </a:p>
          <a:p>
            <a:r>
              <a:rPr lang="en-IN" sz="800" b="1" dirty="0"/>
              <a:t>Phase 5 — Logging &amp; Observability</a:t>
            </a:r>
            <a:endParaRPr lang="en-IN" sz="800" dirty="0"/>
          </a:p>
          <a:p>
            <a:pPr lvl="0"/>
            <a:r>
              <a:rPr lang="en-IN" sz="800" dirty="0"/>
              <a:t>Record policy decisions and routing outcomes.</a:t>
            </a:r>
          </a:p>
          <a:p>
            <a:pPr lvl="0"/>
            <a:r>
              <a:rPr lang="en-IN" sz="800" dirty="0"/>
              <a:t>Add alerts for denied or failed failover attempts.</a:t>
            </a:r>
          </a:p>
          <a:p>
            <a:pPr lvl="0"/>
            <a:r>
              <a:rPr lang="en-IN" sz="800" b="1" dirty="0"/>
              <a:t>Deliverable:</a:t>
            </a:r>
            <a:r>
              <a:rPr lang="en-IN" sz="800" dirty="0"/>
              <a:t> Audit and monitoring module.</a:t>
            </a:r>
          </a:p>
          <a:p>
            <a:r>
              <a:rPr lang="en-IN" sz="800" b="1" dirty="0"/>
              <a:t>Phase 6 — Testing &amp; Demonstration</a:t>
            </a:r>
            <a:endParaRPr lang="en-IN" sz="800" dirty="0"/>
          </a:p>
          <a:p>
            <a:pPr lvl="0"/>
            <a:r>
              <a:rPr lang="en-IN" sz="800" dirty="0"/>
              <a:t>Test service failures, policy violations, and recovery.</a:t>
            </a:r>
          </a:p>
          <a:p>
            <a:pPr lvl="0"/>
            <a:r>
              <a:rPr lang="en-IN" sz="800" dirty="0"/>
              <a:t>Measure failover time and verify audit records.</a:t>
            </a:r>
          </a:p>
          <a:p>
            <a:pPr lvl="0"/>
            <a:r>
              <a:rPr lang="en-IN" sz="800" dirty="0"/>
              <a:t>Deploy the demonstrator in a controlled test environment.</a:t>
            </a:r>
          </a:p>
          <a:p>
            <a:r>
              <a:rPr lang="en-IN" sz="800" b="1" dirty="0"/>
              <a:t>Deliverable:</a:t>
            </a:r>
            <a:r>
              <a:rPr lang="en-IN" sz="800" dirty="0"/>
              <a:t> Tested demonstrator and evaluation report.</a:t>
            </a:r>
          </a:p>
          <a:p>
            <a:pPr lvl="0"/>
            <a:endParaRPr lang="en-IN" sz="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FB8FB7-70FC-219F-19AA-6C44F8F2F4CC}"/>
              </a:ext>
            </a:extLst>
          </p:cNvPr>
          <p:cNvSpPr txBox="1"/>
          <p:nvPr/>
        </p:nvSpPr>
        <p:spPr>
          <a:xfrm>
            <a:off x="320194" y="2488703"/>
            <a:ext cx="4985660" cy="461665"/>
          </a:xfrm>
          <a:prstGeom prst="rect">
            <a:avLst/>
          </a:prstGeom>
          <a:noFill/>
          <a:ln>
            <a:solidFill>
              <a:schemeClr val="accent3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IN" sz="800" b="1" dirty="0"/>
              <a:t>Final Milestone</a:t>
            </a:r>
          </a:p>
          <a:p>
            <a:r>
              <a:rPr lang="en-IN" sz="800" b="1" dirty="0"/>
              <a:t>Policy-Compliant Failover Demonstration</a:t>
            </a:r>
            <a:endParaRPr lang="en-IN" sz="800" dirty="0"/>
          </a:p>
          <a:p>
            <a:r>
              <a:rPr lang="en-IN" sz="800" i="1" dirty="0"/>
              <a:t>Timeline represents the proposed implementation plan; completion depends on development and testing.</a:t>
            </a:r>
            <a:endParaRPr lang="en-IN" sz="800" dirty="0"/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12885" y="16997"/>
            <a:ext cx="50038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10" dirty="0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Bibliography</a:t>
            </a:r>
            <a:endParaRPr sz="600">
              <a:latin typeface="Century Gothic"/>
              <a:cs typeface="Century Gothic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5" dirty="0"/>
              <a:t>Bibliography</a:t>
            </a:r>
            <a:r>
              <a:rPr spc="-20" dirty="0"/>
              <a:t> </a:t>
            </a:r>
            <a:r>
              <a:rPr spc="-50" dirty="0"/>
              <a:t>I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139701" y="596822"/>
            <a:ext cx="5562600" cy="2159437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r>
              <a:rPr lang="en-IN" b="1" dirty="0"/>
              <a:t>Technical foundations and official documentation</a:t>
            </a:r>
          </a:p>
          <a:p>
            <a:endParaRPr lang="en-IN" sz="750" b="1" dirty="0"/>
          </a:p>
          <a:p>
            <a:r>
              <a:rPr lang="en-IN" b="1" dirty="0"/>
              <a:t>[1] NIST SP 800-207 — Zero Trust Architecture</a:t>
            </a:r>
          </a:p>
          <a:p>
            <a:r>
              <a:rPr lang="en-IN" dirty="0">
                <a:hlinkClick r:id="rId3" action="ppaction://hlinkfile"/>
              </a:rPr>
              <a:t>csrc.nist.gov/pubs/</a:t>
            </a:r>
            <a:r>
              <a:rPr lang="en-IN" dirty="0" err="1">
                <a:hlinkClick r:id="rId3" action="ppaction://hlinkfile"/>
              </a:rPr>
              <a:t>sp</a:t>
            </a:r>
            <a:r>
              <a:rPr lang="en-IN" dirty="0">
                <a:hlinkClick r:id="rId3" action="ppaction://hlinkfile"/>
              </a:rPr>
              <a:t>/800/207/final</a:t>
            </a:r>
            <a:endParaRPr lang="en-IN" dirty="0"/>
          </a:p>
          <a:p>
            <a:r>
              <a:rPr lang="en-IN" b="1" dirty="0"/>
              <a:t>[2] Open Policy Agent — Official Documentation</a:t>
            </a:r>
          </a:p>
          <a:p>
            <a:r>
              <a:rPr lang="en-IN" dirty="0">
                <a:hlinkClick r:id="rId4" action="ppaction://hlinkfile"/>
              </a:rPr>
              <a:t>openpolicyagent.org/docs</a:t>
            </a:r>
            <a:endParaRPr lang="en-IN" dirty="0"/>
          </a:p>
          <a:p>
            <a:r>
              <a:rPr lang="en-IN" b="1" dirty="0"/>
              <a:t>[3] Kubernetes — Container Probes</a:t>
            </a:r>
          </a:p>
          <a:p>
            <a:r>
              <a:rPr lang="en-IN" dirty="0">
                <a:hlinkClick r:id="rId4" action="ppaction://hlinkfile"/>
              </a:rPr>
              <a:t>kubernetes.io/docs/concepts/workloads/pods/probes/</a:t>
            </a:r>
            <a:endParaRPr lang="en-IN" dirty="0"/>
          </a:p>
          <a:p>
            <a:r>
              <a:rPr lang="en-IN" b="1" dirty="0"/>
              <a:t>[4] Envoy — Health Checking</a:t>
            </a:r>
          </a:p>
          <a:p>
            <a:r>
              <a:rPr lang="en-IN" dirty="0">
                <a:hlinkClick r:id="rId5" action="ppaction://hlinkfile"/>
              </a:rPr>
              <a:t>envoyproxy.io/docs/envoy/latest/intro/</a:t>
            </a:r>
            <a:r>
              <a:rPr lang="en-IN" dirty="0" err="1">
                <a:hlinkClick r:id="rId5" action="ppaction://hlinkfile"/>
              </a:rPr>
              <a:t>arch_overview</a:t>
            </a:r>
            <a:r>
              <a:rPr lang="en-IN" dirty="0">
                <a:hlinkClick r:id="rId5" action="ppaction://hlinkfile"/>
              </a:rPr>
              <a:t>/upstream/</a:t>
            </a:r>
            <a:r>
              <a:rPr lang="en-IN" dirty="0" err="1">
                <a:hlinkClick r:id="rId5" action="ppaction://hlinkfile"/>
              </a:rPr>
              <a:t>health_checking</a:t>
            </a:r>
            <a:endParaRPr lang="en-IN" dirty="0"/>
          </a:p>
          <a:p>
            <a:r>
              <a:rPr lang="en-IN" b="1" dirty="0"/>
              <a:t>[5] IETF RFC 5880 — Bidirectional Forwarding Detection</a:t>
            </a:r>
          </a:p>
          <a:p>
            <a:r>
              <a:rPr lang="en-IN" dirty="0">
                <a:hlinkClick r:id="rId6" action="ppaction://hlinkfile"/>
              </a:rPr>
              <a:t>rfc-editor.org/</a:t>
            </a:r>
            <a:r>
              <a:rPr lang="en-IN" dirty="0" err="1">
                <a:hlinkClick r:id="rId6" action="ppaction://hlinkfile"/>
              </a:rPr>
              <a:t>rfc</a:t>
            </a:r>
            <a:r>
              <a:rPr lang="en-IN" dirty="0">
                <a:hlinkClick r:id="rId6" action="ppaction://hlinkfile"/>
              </a:rPr>
              <a:t>/rfc5880.html</a:t>
            </a:r>
            <a:endParaRPr lang="en-IN" dirty="0"/>
          </a:p>
          <a:p>
            <a:pPr marL="12065" marR="5080">
              <a:lnSpc>
                <a:spcPct val="102699"/>
              </a:lnSpc>
              <a:spcBef>
                <a:spcPts val="55"/>
              </a:spcBef>
              <a:buClr>
                <a:srgbClr val="0000DC"/>
              </a:buClr>
              <a:tabLst>
                <a:tab pos="310515" algn="l"/>
              </a:tabLst>
            </a:pPr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239293" y="3050083"/>
            <a:ext cx="1608455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15"/>
              </a:lnSpc>
            </a:pPr>
            <a:r>
              <a:rPr lang="en-US" sz="600" i="1" spc="-60" baseline="-7936" dirty="0">
                <a:solidFill>
                  <a:srgbClr val="0000DC"/>
                </a:solidFill>
                <a:latin typeface="Century Gothic"/>
                <a:cs typeface="Arial Narrow"/>
              </a:rPr>
              <a:t>Vishal Raj</a:t>
            </a:r>
            <a:r>
              <a:rPr lang="en-US" sz="2100" i="1" baseline="-7936" dirty="0">
                <a:solidFill>
                  <a:srgbClr val="0000DC"/>
                </a:solidFill>
                <a:latin typeface="Arial Narrow"/>
                <a:cs typeface="Arial Narrow"/>
              </a:rPr>
              <a:t>·</a:t>
            </a:r>
            <a:r>
              <a:rPr lang="en-US" sz="2100" i="1" spc="-202" baseline="-7936" dirty="0">
                <a:solidFill>
                  <a:srgbClr val="0000DC"/>
                </a:solidFill>
                <a:latin typeface="Arial Narrow"/>
                <a:cs typeface="Arial Narrow"/>
              </a:rPr>
              <a:t> </a:t>
            </a:r>
            <a:r>
              <a:rPr lang="en-US" sz="800" i="1" spc="-45" baseline="-7936" dirty="0">
                <a:solidFill>
                  <a:srgbClr val="0000DC"/>
                </a:solidFill>
                <a:latin typeface="Arial Narrow"/>
                <a:cs typeface="Arial Narrow"/>
              </a:rPr>
              <a:t>A3</a:t>
            </a:r>
            <a:r>
              <a:rPr lang="en-US" sz="600" b="1" i="1" spc="10" baseline="-7936" dirty="0">
                <a:solidFill>
                  <a:srgbClr val="0000DC"/>
                </a:solidFill>
                <a:latin typeface="Century Gothic"/>
                <a:cs typeface="Arial Narrow"/>
              </a:rPr>
              <a:t>-PS006-TC385</a:t>
            </a:r>
            <a:r>
              <a:rPr lang="en-US" sz="2100" i="1" baseline="-7936" dirty="0">
                <a:solidFill>
                  <a:srgbClr val="0000DC"/>
                </a:solidFill>
                <a:latin typeface="Arial Narrow"/>
                <a:cs typeface="Arial Narrow"/>
              </a:rPr>
              <a:t>·</a:t>
            </a:r>
            <a:r>
              <a:rPr lang="en-US" sz="2100" i="1" spc="-202" baseline="-7936" dirty="0">
                <a:solidFill>
                  <a:srgbClr val="0000DC"/>
                </a:solidFill>
                <a:latin typeface="Arial Narrow"/>
                <a:cs typeface="Arial Narrow"/>
              </a:rPr>
              <a:t> </a:t>
            </a:r>
            <a:r>
              <a:rPr lang="en-US" sz="600" spc="-20" dirty="0">
                <a:solidFill>
                  <a:srgbClr val="0000DC"/>
                </a:solidFill>
                <a:latin typeface="Century Gothic"/>
                <a:cs typeface="Century Gothic"/>
              </a:rPr>
              <a:t>October</a:t>
            </a:r>
            <a:r>
              <a:rPr lang="en-US" sz="600" spc="10" dirty="0">
                <a:solidFill>
                  <a:srgbClr val="0000DC"/>
                </a:solidFill>
                <a:latin typeface="Century Gothic"/>
                <a:cs typeface="Century Gothic"/>
              </a:rPr>
              <a:t> 14</a:t>
            </a:r>
            <a:r>
              <a:rPr lang="en-US" sz="600" dirty="0">
                <a:solidFill>
                  <a:srgbClr val="0000DC"/>
                </a:solidFill>
                <a:latin typeface="Century Gothic"/>
                <a:cs typeface="Century Gothic"/>
              </a:rPr>
              <a:t>,</a:t>
            </a:r>
            <a:r>
              <a:rPr lang="en-US" sz="600" spc="10" dirty="0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lang="en-US" sz="600" spc="-20" dirty="0">
                <a:solidFill>
                  <a:srgbClr val="0000DC"/>
                </a:solidFill>
                <a:latin typeface="Century Gothic"/>
                <a:cs typeface="Century Gothic"/>
              </a:rPr>
              <a:t>2026</a:t>
            </a:r>
            <a:endParaRPr lang="en-US" sz="600" dirty="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dirty="0"/>
              <a:t>10</a:t>
            </a:fld>
            <a:r>
              <a:rPr spc="5" dirty="0"/>
              <a:t> </a:t>
            </a:r>
            <a:r>
              <a:rPr dirty="0"/>
              <a:t>/</a:t>
            </a:r>
            <a:r>
              <a:rPr spc="10" dirty="0"/>
              <a:t> </a:t>
            </a:r>
            <a:r>
              <a:rPr spc="-25" dirty="0"/>
              <a:t>11</a:t>
            </a: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94535" y="1088871"/>
            <a:ext cx="1771014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60" dirty="0">
                <a:latin typeface="Century Gothic"/>
                <a:cs typeface="Century Gothic"/>
              </a:rPr>
              <a:t>Thank</a:t>
            </a:r>
            <a:r>
              <a:rPr sz="1100" dirty="0">
                <a:latin typeface="Century Gothic"/>
                <a:cs typeface="Century Gothic"/>
              </a:rPr>
              <a:t> </a:t>
            </a:r>
            <a:r>
              <a:rPr sz="1100" spc="-130" dirty="0">
                <a:latin typeface="Century Gothic"/>
                <a:cs typeface="Century Gothic"/>
              </a:rPr>
              <a:t>You</a:t>
            </a:r>
            <a:r>
              <a:rPr sz="1100" dirty="0">
                <a:latin typeface="Century Gothic"/>
                <a:cs typeface="Century Gothic"/>
              </a:rPr>
              <a:t> </a:t>
            </a:r>
            <a:r>
              <a:rPr sz="1100" spc="-35" dirty="0">
                <a:latin typeface="Century Gothic"/>
                <a:cs typeface="Century Gothic"/>
              </a:rPr>
              <a:t>for</a:t>
            </a:r>
            <a:r>
              <a:rPr sz="1100" spc="5" dirty="0">
                <a:latin typeface="Century Gothic"/>
                <a:cs typeface="Century Gothic"/>
              </a:rPr>
              <a:t> </a:t>
            </a:r>
            <a:r>
              <a:rPr sz="1100" spc="-85" dirty="0">
                <a:latin typeface="Century Gothic"/>
                <a:cs typeface="Century Gothic"/>
              </a:rPr>
              <a:t>Your</a:t>
            </a:r>
            <a:r>
              <a:rPr sz="1100" dirty="0">
                <a:latin typeface="Century Gothic"/>
                <a:cs typeface="Century Gothic"/>
              </a:rPr>
              <a:t> </a:t>
            </a:r>
            <a:r>
              <a:rPr sz="1100" spc="-55" dirty="0">
                <a:latin typeface="Century Gothic"/>
                <a:cs typeface="Century Gothic"/>
              </a:rPr>
              <a:t>Attention!</a:t>
            </a:r>
            <a:endParaRPr sz="1100">
              <a:latin typeface="Century Gothic"/>
              <a:cs typeface="Century Gothic"/>
            </a:endParaRP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156</TotalTime>
  <Words>1119</Words>
  <Application>Microsoft Office PowerPoint</Application>
  <PresentationFormat>Custom</PresentationFormat>
  <Paragraphs>172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 Narrow</vt:lpstr>
      <vt:lpstr>Calibri</vt:lpstr>
      <vt:lpstr>Century Gothic</vt:lpstr>
      <vt:lpstr>Inter</vt:lpstr>
      <vt:lpstr>Office Theme</vt:lpstr>
      <vt:lpstr>A3-PS006-TC385  Policy-Constrained Service Failover Demonstrator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Data Flow Diagram </vt:lpstr>
      <vt:lpstr>PowerPoint Presentation</vt:lpstr>
      <vt:lpstr>Bibliography I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A3-PS001-TC001 - Android Ransomware-like Activity Early Warning in a Controlled Lab</dc:title>
  <dc:subject>Presentation Subject</dc:subject>
  <dc:creator>John Doe, personal-id@some.mail.com</dc:creator>
  <cp:keywords>the, presentation, keywords</cp:keywords>
  <cp:lastModifiedBy>Muskan Jaiswal</cp:lastModifiedBy>
  <cp:revision>2</cp:revision>
  <dcterms:created xsi:type="dcterms:W3CDTF">2026-10-14T07:34:54Z</dcterms:created>
  <dcterms:modified xsi:type="dcterms:W3CDTF">2026-10-14T16:39:21Z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2026-10-05T00:00:00Z</vt:filetime>
  </property>
  <property fmtid="{D5CDD505-2E9C-101B-9397-08002B2CF9AE}" pid="4" name="Creator">
    <vt:lpwstr>LaTeX with Beamer class</vt:lpwstr>
  </property>
  <property fmtid="{D5CDD505-2E9C-101B-9397-08002B2CF9AE}" pid="5" name="LastSaved">
    <vt:filetime>2026-10-14T00:00:00Z</vt:filetime>
  </property>
  <property fmtid="{D5CDD505-2E9C-101B-9397-08002B2CF9AE}" pid="6" name="PTEX.Fullbanner">
    <vt:lpwstr>This is pdfTeX, Version 3.141592653-2.6-1.40.29 (TeX Live 2026) kpathsea version 6.4.2</vt:lpwstr>
  </property>
  <property fmtid="{D5CDD505-2E9C-101B-9397-08002B2CF9AE}" pid="7" name="Producer">
    <vt:lpwstr>pdfTeX-1.40.29</vt:lpwstr>
  </property>
</Properties>
</file>